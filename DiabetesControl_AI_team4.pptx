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" charset="1" panose="020F0502020204030204"/>
      <p:regular r:id="rId16"/>
    </p:embeddedFont>
    <p:embeddedFont>
      <p:font typeface="Bantayog" charset="1" panose="00000000000000000000"/>
      <p:regular r:id="rId17"/>
    </p:embeddedFont>
    <p:embeddedFont>
      <p:font typeface="Calibri (MS) Bold" charset="1" panose="020F0702030404030204"/>
      <p:regular r:id="rId18"/>
    </p:embeddedFont>
    <p:embeddedFont>
      <p:font typeface="Consolas Bold" charset="1" panose="020B07090202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98765" y="1647206"/>
            <a:ext cx="2059010" cy="2059010"/>
            <a:chOff x="0" y="0"/>
            <a:chExt cx="2745346" cy="27453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45232" cy="2745232"/>
            </a:xfrm>
            <a:custGeom>
              <a:avLst/>
              <a:gdLst/>
              <a:ahLst/>
              <a:cxnLst/>
              <a:rect r="r" b="b" t="t" l="l"/>
              <a:pathLst>
                <a:path h="2745232" w="2745232">
                  <a:moveTo>
                    <a:pt x="0" y="549021"/>
                  </a:moveTo>
                  <a:cubicBezTo>
                    <a:pt x="0" y="245872"/>
                    <a:pt x="245872" y="0"/>
                    <a:pt x="549021" y="0"/>
                  </a:cubicBezTo>
                  <a:lnTo>
                    <a:pt x="2196211" y="0"/>
                  </a:lnTo>
                  <a:cubicBezTo>
                    <a:pt x="2499487" y="0"/>
                    <a:pt x="2745232" y="245872"/>
                    <a:pt x="2745232" y="549021"/>
                  </a:cubicBezTo>
                  <a:lnTo>
                    <a:pt x="2745232" y="2196211"/>
                  </a:lnTo>
                  <a:cubicBezTo>
                    <a:pt x="2745232" y="2499487"/>
                    <a:pt x="2499360" y="2745232"/>
                    <a:pt x="2196211" y="2745232"/>
                  </a:cubicBezTo>
                  <a:lnTo>
                    <a:pt x="549021" y="2745232"/>
                  </a:lnTo>
                  <a:cubicBezTo>
                    <a:pt x="245872" y="2745359"/>
                    <a:pt x="0" y="2499487"/>
                    <a:pt x="0" y="2196338"/>
                  </a:cubicBezTo>
                  <a:close/>
                </a:path>
              </a:pathLst>
            </a:custGeom>
            <a:solidFill>
              <a:srgbClr val="ACFFC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98765" y="1647206"/>
            <a:ext cx="2059010" cy="2059010"/>
            <a:chOff x="0" y="0"/>
            <a:chExt cx="2745346" cy="27453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45345" cy="2745345"/>
            </a:xfrm>
            <a:custGeom>
              <a:avLst/>
              <a:gdLst/>
              <a:ahLst/>
              <a:cxnLst/>
              <a:rect r="r" b="b" t="t" l="l"/>
              <a:pathLst>
                <a:path h="2745345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2745345"/>
                  </a:lnTo>
                  <a:lnTo>
                    <a:pt x="0" y="27453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0"/>
              <a:ext cx="2745346" cy="29358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08"/>
                </a:lnSpc>
              </a:pPr>
              <a:r>
                <a:rPr lang="en-US" sz="9007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🩺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49101" y="4108494"/>
            <a:ext cx="8358336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6"/>
              </a:lnSpc>
            </a:pPr>
            <a:r>
              <a:rPr lang="en-US" sz="7205">
                <a:solidFill>
                  <a:srgbClr val="16A34A"/>
                </a:solidFill>
                <a:latin typeface="Bantayog"/>
                <a:ea typeface="Bantayog"/>
                <a:cs typeface="Bantayog"/>
                <a:sym typeface="Bantayog"/>
              </a:rPr>
              <a:t>Diabetes Control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6333" y="5343896"/>
            <a:ext cx="1688387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A digital diabetes assistant for everyone in Malaysia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6333" y="6304769"/>
            <a:ext cx="1688387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Three roles · One platform · Powered by Amazon Bedrock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6333" y="9187377"/>
            <a:ext cx="1688387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AWS CendekiAwan 2.0  ·  MMU Showcase  ·  24 June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82363"/>
            <a:chOff x="0" y="0"/>
            <a:chExt cx="24402453" cy="1098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09855"/>
            </a:xfrm>
            <a:custGeom>
              <a:avLst/>
              <a:gdLst/>
              <a:ahLst/>
              <a:cxnLst/>
              <a:rect r="r" b="b" t="t" l="l"/>
              <a:pathLst>
                <a:path h="10985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1804" y="274539"/>
            <a:ext cx="521618" cy="521618"/>
            <a:chOff x="0" y="0"/>
            <a:chExt cx="695490" cy="6954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5452" cy="695452"/>
            </a:xfrm>
            <a:custGeom>
              <a:avLst/>
              <a:gdLst/>
              <a:ahLst/>
              <a:cxnLst/>
              <a:rect r="r" b="b" t="t" l="l"/>
              <a:pathLst>
                <a:path h="695452" w="695452">
                  <a:moveTo>
                    <a:pt x="0" y="208661"/>
                  </a:moveTo>
                  <a:cubicBezTo>
                    <a:pt x="0" y="93472"/>
                    <a:pt x="93472" y="0"/>
                    <a:pt x="208661" y="0"/>
                  </a:cubicBezTo>
                  <a:lnTo>
                    <a:pt x="486791" y="0"/>
                  </a:lnTo>
                  <a:cubicBezTo>
                    <a:pt x="601980" y="0"/>
                    <a:pt x="695452" y="93472"/>
                    <a:pt x="695452" y="208661"/>
                  </a:cubicBezTo>
                  <a:lnTo>
                    <a:pt x="695452" y="486791"/>
                  </a:lnTo>
                  <a:cubicBezTo>
                    <a:pt x="695452" y="601980"/>
                    <a:pt x="601980" y="695452"/>
                    <a:pt x="486791" y="695452"/>
                  </a:cubicBezTo>
                  <a:lnTo>
                    <a:pt x="208661" y="695452"/>
                  </a:lnTo>
                  <a:cubicBezTo>
                    <a:pt x="93472" y="695452"/>
                    <a:pt x="0" y="602107"/>
                    <a:pt x="0" y="486791"/>
                  </a:cubicBezTo>
                  <a:close/>
                </a:path>
              </a:pathLst>
            </a:custGeom>
            <a:solidFill>
              <a:srgbClr val="ACFFC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11804" y="274539"/>
            <a:ext cx="521618" cy="521618"/>
            <a:chOff x="0" y="0"/>
            <a:chExt cx="695490" cy="695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5487" cy="695487"/>
            </a:xfrm>
            <a:custGeom>
              <a:avLst/>
              <a:gdLst/>
              <a:ahLst/>
              <a:cxnLst/>
              <a:rect r="r" b="b" t="t" l="l"/>
              <a:pathLst>
                <a:path h="695487" w="695487">
                  <a:moveTo>
                    <a:pt x="0" y="0"/>
                  </a:moveTo>
                  <a:lnTo>
                    <a:pt x="695487" y="0"/>
                  </a:lnTo>
                  <a:lnTo>
                    <a:pt x="69548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695490" cy="743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🩺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70686" y="319916"/>
            <a:ext cx="480435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Diabetes Control AI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95039" y="310391"/>
            <a:ext cx="754969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What it does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6333" y="1147724"/>
            <a:ext cx="710684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What is Diabetes Control AI?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6333" y="1902695"/>
            <a:ext cx="1647206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A diabetes app where patients get instant AI help, and connect to verified doctors when they need a human.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79190" y="3012729"/>
            <a:ext cx="5573620" cy="6191326"/>
            <a:chOff x="0" y="0"/>
            <a:chExt cx="7431494" cy="82551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31532" cy="8255126"/>
            </a:xfrm>
            <a:custGeom>
              <a:avLst/>
              <a:gdLst/>
              <a:ahLst/>
              <a:cxnLst/>
              <a:rect r="r" b="b" t="t" l="l"/>
              <a:pathLst>
                <a:path h="8255126" w="7431532">
                  <a:moveTo>
                    <a:pt x="0" y="297307"/>
                  </a:moveTo>
                  <a:cubicBezTo>
                    <a:pt x="0" y="133096"/>
                    <a:pt x="133096" y="0"/>
                    <a:pt x="297307" y="0"/>
                  </a:cubicBezTo>
                  <a:lnTo>
                    <a:pt x="7134225" y="0"/>
                  </a:lnTo>
                  <a:cubicBezTo>
                    <a:pt x="7298436" y="0"/>
                    <a:pt x="7431532" y="133096"/>
                    <a:pt x="7431532" y="297307"/>
                  </a:cubicBezTo>
                  <a:lnTo>
                    <a:pt x="7431532" y="7957820"/>
                  </a:lnTo>
                  <a:cubicBezTo>
                    <a:pt x="7431532" y="8122031"/>
                    <a:pt x="7298436" y="8255126"/>
                    <a:pt x="7134225" y="8255126"/>
                  </a:cubicBezTo>
                  <a:lnTo>
                    <a:pt x="297307" y="8255126"/>
                  </a:lnTo>
                  <a:cubicBezTo>
                    <a:pt x="133096" y="8255127"/>
                    <a:pt x="0" y="8122031"/>
                    <a:pt x="0" y="7957820"/>
                  </a:cubicBezTo>
                  <a:close/>
                </a:path>
              </a:pathLst>
            </a:custGeom>
            <a:solidFill>
              <a:srgbClr val="DCFCE7"/>
            </a:solidFill>
            <a:ln w="14299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86333" y="3019882"/>
            <a:ext cx="5559323" cy="109814"/>
            <a:chOff x="0" y="0"/>
            <a:chExt cx="7412431" cy="14641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412482" cy="146431"/>
            </a:xfrm>
            <a:custGeom>
              <a:avLst/>
              <a:gdLst/>
              <a:ahLst/>
              <a:cxnLst/>
              <a:rect r="r" b="b" t="t" l="l"/>
              <a:pathLst>
                <a:path h="146431" w="7412482">
                  <a:moveTo>
                    <a:pt x="0" y="0"/>
                  </a:moveTo>
                  <a:lnTo>
                    <a:pt x="7412482" y="0"/>
                  </a:lnTo>
                  <a:lnTo>
                    <a:pt x="7412482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29500" y="3256312"/>
            <a:ext cx="4941618" cy="724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6A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👤  PATIENT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9500" y="4039857"/>
            <a:ext cx="494161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Who: Anyone with diabetes (or pre-diabetes)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9500" y="4657563"/>
            <a:ext cx="494161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Save personal profile (HbA1c, weight, meds)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9500" y="5096818"/>
            <a:ext cx="494161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Upload lab photo → AI reads values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9500" y="5536073"/>
            <a:ext cx="494161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Log meals → get analysis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9500" y="5975328"/>
            <a:ext cx="494161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Chat with AI Coach 24/7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9500" y="6414583"/>
            <a:ext cx="494161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Send health data to a doctor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9500" y="6853838"/>
            <a:ext cx="494161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Receive doctor's clinical reports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375778" y="3012729"/>
            <a:ext cx="5573620" cy="6191326"/>
            <a:chOff x="0" y="0"/>
            <a:chExt cx="7431494" cy="825510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31532" cy="8255126"/>
            </a:xfrm>
            <a:custGeom>
              <a:avLst/>
              <a:gdLst/>
              <a:ahLst/>
              <a:cxnLst/>
              <a:rect r="r" b="b" t="t" l="l"/>
              <a:pathLst>
                <a:path h="8255126" w="7431532">
                  <a:moveTo>
                    <a:pt x="0" y="297307"/>
                  </a:moveTo>
                  <a:cubicBezTo>
                    <a:pt x="0" y="133096"/>
                    <a:pt x="133096" y="0"/>
                    <a:pt x="297307" y="0"/>
                  </a:cubicBezTo>
                  <a:lnTo>
                    <a:pt x="7134225" y="0"/>
                  </a:lnTo>
                  <a:cubicBezTo>
                    <a:pt x="7298436" y="0"/>
                    <a:pt x="7431532" y="133096"/>
                    <a:pt x="7431532" y="297307"/>
                  </a:cubicBezTo>
                  <a:lnTo>
                    <a:pt x="7431532" y="7957820"/>
                  </a:lnTo>
                  <a:cubicBezTo>
                    <a:pt x="7431532" y="8122031"/>
                    <a:pt x="7298436" y="8255126"/>
                    <a:pt x="7134225" y="8255126"/>
                  </a:cubicBezTo>
                  <a:lnTo>
                    <a:pt x="297307" y="8255126"/>
                  </a:lnTo>
                  <a:cubicBezTo>
                    <a:pt x="133096" y="8255127"/>
                    <a:pt x="0" y="8122031"/>
                    <a:pt x="0" y="795782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6382931" y="3019882"/>
            <a:ext cx="5559323" cy="109814"/>
            <a:chOff x="0" y="0"/>
            <a:chExt cx="7412431" cy="14641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412482" cy="146431"/>
            </a:xfrm>
            <a:custGeom>
              <a:avLst/>
              <a:gdLst/>
              <a:ahLst/>
              <a:cxnLst/>
              <a:rect r="r" b="b" t="t" l="l"/>
              <a:pathLst>
                <a:path h="146431" w="7412482">
                  <a:moveTo>
                    <a:pt x="0" y="0"/>
                  </a:moveTo>
                  <a:lnTo>
                    <a:pt x="7412482" y="0"/>
                  </a:lnTo>
                  <a:lnTo>
                    <a:pt x="7412482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6726098" y="3256312"/>
            <a:ext cx="4941618" cy="724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2563E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👨‍⚕️  DOCTOR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726098" y="4039857"/>
            <a:ext cx="494161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Who: Verified physicians (admin-approved)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726098" y="4657563"/>
            <a:ext cx="494161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See patients who referred them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726098" y="5096818"/>
            <a:ext cx="494161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View 14-day health charts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726098" y="5536073"/>
            <a:ext cx="494161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Read patient's AI insights &amp; labs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726098" y="5975328"/>
            <a:ext cx="494161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Receive automatic risk alerts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726098" y="6414583"/>
            <a:ext cx="494161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Send clinical notes back to patient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726098" y="6853838"/>
            <a:ext cx="494161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Click-to-zoom on lab images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072366" y="3012729"/>
            <a:ext cx="5573620" cy="6191326"/>
            <a:chOff x="0" y="0"/>
            <a:chExt cx="7431494" cy="825510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431532" cy="8255126"/>
            </a:xfrm>
            <a:custGeom>
              <a:avLst/>
              <a:gdLst/>
              <a:ahLst/>
              <a:cxnLst/>
              <a:rect r="r" b="b" t="t" l="l"/>
              <a:pathLst>
                <a:path h="8255126" w="7431532">
                  <a:moveTo>
                    <a:pt x="0" y="297307"/>
                  </a:moveTo>
                  <a:cubicBezTo>
                    <a:pt x="0" y="133096"/>
                    <a:pt x="133096" y="0"/>
                    <a:pt x="297307" y="0"/>
                  </a:cubicBezTo>
                  <a:lnTo>
                    <a:pt x="7134225" y="0"/>
                  </a:lnTo>
                  <a:cubicBezTo>
                    <a:pt x="7298436" y="0"/>
                    <a:pt x="7431532" y="133096"/>
                    <a:pt x="7431532" y="297307"/>
                  </a:cubicBezTo>
                  <a:lnTo>
                    <a:pt x="7431532" y="7957820"/>
                  </a:lnTo>
                  <a:cubicBezTo>
                    <a:pt x="7431532" y="8122031"/>
                    <a:pt x="7298436" y="8255126"/>
                    <a:pt x="7134225" y="8255126"/>
                  </a:cubicBezTo>
                  <a:lnTo>
                    <a:pt x="297307" y="8255126"/>
                  </a:lnTo>
                  <a:cubicBezTo>
                    <a:pt x="133096" y="8255127"/>
                    <a:pt x="0" y="8122031"/>
                    <a:pt x="0" y="795782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079519" y="3019882"/>
            <a:ext cx="5559323" cy="109814"/>
            <a:chOff x="0" y="0"/>
            <a:chExt cx="7412431" cy="14641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412482" cy="146431"/>
            </a:xfrm>
            <a:custGeom>
              <a:avLst/>
              <a:gdLst/>
              <a:ahLst/>
              <a:cxnLst/>
              <a:rect r="r" b="b" t="t" l="l"/>
              <a:pathLst>
                <a:path h="146431" w="7412482">
                  <a:moveTo>
                    <a:pt x="0" y="0"/>
                  </a:moveTo>
                  <a:lnTo>
                    <a:pt x="7412482" y="0"/>
                  </a:lnTo>
                  <a:lnTo>
                    <a:pt x="7412482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2422686" y="3256312"/>
            <a:ext cx="4941618" cy="724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🔐  ADMIN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422686" y="4039857"/>
            <a:ext cx="494161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Who: System operator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422686" y="4657563"/>
            <a:ext cx="494161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Verify doctor credentials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422686" y="5096818"/>
            <a:ext cx="494161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Revoke fake/malicious doctors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422686" y="5536073"/>
            <a:ext cx="494161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Monitor all users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422686" y="5975328"/>
            <a:ext cx="494161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View pending verification queue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422686" y="6414583"/>
            <a:ext cx="494161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System health dashboard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422686" y="6853838"/>
            <a:ext cx="494161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Doctor approval workflow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86333" y="9599181"/>
            <a:ext cx="1688387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16A34A"/>
                </a:solidFill>
                <a:latin typeface="Bantayog"/>
                <a:ea typeface="Bantayog"/>
                <a:cs typeface="Bantayog"/>
                <a:sym typeface="Bantayog"/>
              </a:rPr>
              <a:t>All three connected through one secure AWS backend.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82363"/>
            <a:chOff x="0" y="0"/>
            <a:chExt cx="24402453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09855"/>
            </a:xfrm>
            <a:custGeom>
              <a:avLst/>
              <a:gdLst/>
              <a:ahLst/>
              <a:cxnLst/>
              <a:rect r="r" b="b" t="t" l="l"/>
              <a:pathLst>
                <a:path h="10985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11804" y="274539"/>
            <a:ext cx="521618" cy="521618"/>
            <a:chOff x="0" y="0"/>
            <a:chExt cx="695490" cy="6954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5452" cy="695452"/>
            </a:xfrm>
            <a:custGeom>
              <a:avLst/>
              <a:gdLst/>
              <a:ahLst/>
              <a:cxnLst/>
              <a:rect r="r" b="b" t="t" l="l"/>
              <a:pathLst>
                <a:path h="695452" w="695452">
                  <a:moveTo>
                    <a:pt x="0" y="208661"/>
                  </a:moveTo>
                  <a:cubicBezTo>
                    <a:pt x="0" y="93472"/>
                    <a:pt x="93472" y="0"/>
                    <a:pt x="208661" y="0"/>
                  </a:cubicBezTo>
                  <a:lnTo>
                    <a:pt x="486791" y="0"/>
                  </a:lnTo>
                  <a:cubicBezTo>
                    <a:pt x="601980" y="0"/>
                    <a:pt x="695452" y="93472"/>
                    <a:pt x="695452" y="208661"/>
                  </a:cubicBezTo>
                  <a:lnTo>
                    <a:pt x="695452" y="486791"/>
                  </a:lnTo>
                  <a:cubicBezTo>
                    <a:pt x="695452" y="601980"/>
                    <a:pt x="601980" y="695452"/>
                    <a:pt x="486791" y="695452"/>
                  </a:cubicBezTo>
                  <a:lnTo>
                    <a:pt x="208661" y="695452"/>
                  </a:lnTo>
                  <a:cubicBezTo>
                    <a:pt x="93472" y="695452"/>
                    <a:pt x="0" y="602107"/>
                    <a:pt x="0" y="486791"/>
                  </a:cubicBezTo>
                  <a:close/>
                </a:path>
              </a:pathLst>
            </a:custGeom>
            <a:solidFill>
              <a:srgbClr val="ACFFC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1804" y="274539"/>
            <a:ext cx="521618" cy="521618"/>
            <a:chOff x="0" y="0"/>
            <a:chExt cx="695490" cy="6954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5487" cy="695487"/>
            </a:xfrm>
            <a:custGeom>
              <a:avLst/>
              <a:gdLst/>
              <a:ahLst/>
              <a:cxnLst/>
              <a:rect r="r" b="b" t="t" l="l"/>
              <a:pathLst>
                <a:path h="695487" w="695487">
                  <a:moveTo>
                    <a:pt x="0" y="0"/>
                  </a:moveTo>
                  <a:lnTo>
                    <a:pt x="695487" y="0"/>
                  </a:lnTo>
                  <a:lnTo>
                    <a:pt x="69548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695490" cy="743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🩺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70686" y="319916"/>
            <a:ext cx="480435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Diabetes Control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95039" y="310391"/>
            <a:ext cx="754969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Why this matters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6333" y="1147724"/>
            <a:ext cx="6604546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The Problem We're Solving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6333" y="1902695"/>
            <a:ext cx="1647206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Diabetes is exploding in Malaysia, and specialists can't keep up.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79190" y="2738199"/>
            <a:ext cx="5436356" cy="2759640"/>
            <a:chOff x="0" y="0"/>
            <a:chExt cx="7248474" cy="3679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248525" cy="3679571"/>
            </a:xfrm>
            <a:custGeom>
              <a:avLst/>
              <a:gdLst/>
              <a:ahLst/>
              <a:cxnLst/>
              <a:rect r="r" b="b" t="t" l="l"/>
              <a:pathLst>
                <a:path h="3679571" w="7248525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7101332" y="0"/>
                  </a:lnTo>
                  <a:cubicBezTo>
                    <a:pt x="7182612" y="0"/>
                    <a:pt x="7248525" y="65913"/>
                    <a:pt x="7248525" y="147193"/>
                  </a:cubicBezTo>
                  <a:lnTo>
                    <a:pt x="7248525" y="3532378"/>
                  </a:lnTo>
                  <a:cubicBezTo>
                    <a:pt x="7248525" y="3613658"/>
                    <a:pt x="7182612" y="3679571"/>
                    <a:pt x="7101332" y="3679571"/>
                  </a:cubicBezTo>
                  <a:lnTo>
                    <a:pt x="147193" y="3679571"/>
                  </a:lnTo>
                  <a:cubicBezTo>
                    <a:pt x="65913" y="3679571"/>
                    <a:pt x="0" y="3613658"/>
                    <a:pt x="0" y="3532378"/>
                  </a:cubicBezTo>
                  <a:close/>
                </a:path>
              </a:pathLst>
            </a:custGeom>
            <a:solidFill>
              <a:srgbClr val="DCFCE7"/>
            </a:solidFill>
            <a:ln w="14299" cap="sq">
              <a:solidFill>
                <a:srgbClr val="16A34A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823608" y="2941720"/>
            <a:ext cx="514752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4"/>
              </a:lnSpc>
            </a:pPr>
            <a:r>
              <a:rPr lang="en-US" sz="4803">
                <a:solidFill>
                  <a:srgbClr val="DB2777"/>
                </a:solidFill>
                <a:latin typeface="Bantayog"/>
                <a:ea typeface="Bantayog"/>
                <a:cs typeface="Bantayog"/>
                <a:sym typeface="Bantayog"/>
              </a:rPr>
              <a:t>4.2M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3608" y="3902593"/>
            <a:ext cx="51475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Malaysians with diabetes by 2026 (1 in 5)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265" y="4274068"/>
            <a:ext cx="5833862" cy="21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5"/>
              </a:lnSpc>
            </a:pPr>
            <a:r>
              <a:rPr lang="en-US" sz="1437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NHMS 2025 update — MOH Malaysia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444415" y="2738199"/>
            <a:ext cx="5436356" cy="2759640"/>
            <a:chOff x="0" y="0"/>
            <a:chExt cx="7248474" cy="3679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48525" cy="3679571"/>
            </a:xfrm>
            <a:custGeom>
              <a:avLst/>
              <a:gdLst/>
              <a:ahLst/>
              <a:cxnLst/>
              <a:rect r="r" b="b" t="t" l="l"/>
              <a:pathLst>
                <a:path h="3679571" w="7248525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7101332" y="0"/>
                  </a:lnTo>
                  <a:cubicBezTo>
                    <a:pt x="7182612" y="0"/>
                    <a:pt x="7248525" y="65913"/>
                    <a:pt x="7248525" y="147193"/>
                  </a:cubicBezTo>
                  <a:lnTo>
                    <a:pt x="7248525" y="3532378"/>
                  </a:lnTo>
                  <a:cubicBezTo>
                    <a:pt x="7248525" y="3613658"/>
                    <a:pt x="7182612" y="3679571"/>
                    <a:pt x="7101332" y="3679571"/>
                  </a:cubicBezTo>
                  <a:lnTo>
                    <a:pt x="147193" y="3679571"/>
                  </a:lnTo>
                  <a:cubicBezTo>
                    <a:pt x="65913" y="3679571"/>
                    <a:pt x="0" y="3613658"/>
                    <a:pt x="0" y="3532378"/>
                  </a:cubicBezTo>
                  <a:close/>
                </a:path>
              </a:pathLst>
            </a:custGeom>
            <a:solidFill>
              <a:srgbClr val="DCFCE7"/>
            </a:solidFill>
            <a:ln w="14299" cap="sq">
              <a:solidFill>
                <a:srgbClr val="16A34A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6588824" y="2941720"/>
            <a:ext cx="514752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4"/>
              </a:lnSpc>
            </a:pPr>
            <a:r>
              <a:rPr lang="en-US" sz="4803">
                <a:solidFill>
                  <a:srgbClr val="DB2777"/>
                </a:solidFill>
                <a:latin typeface="Bantayog"/>
                <a:ea typeface="Bantayog"/>
                <a:cs typeface="Bantayog"/>
                <a:sym typeface="Bantayog"/>
              </a:rPr>
              <a:t>+14%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88824" y="3902593"/>
            <a:ext cx="51475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Yearly increase in Type 2 diagnoses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26098" y="4216918"/>
            <a:ext cx="487299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Diabetes Atlas 2025 — IDF report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209631" y="2738199"/>
            <a:ext cx="5436356" cy="2759640"/>
            <a:chOff x="0" y="0"/>
            <a:chExt cx="7248474" cy="3679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248525" cy="3679571"/>
            </a:xfrm>
            <a:custGeom>
              <a:avLst/>
              <a:gdLst/>
              <a:ahLst/>
              <a:cxnLst/>
              <a:rect r="r" b="b" t="t" l="l"/>
              <a:pathLst>
                <a:path h="3679571" w="7248525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7101332" y="0"/>
                  </a:lnTo>
                  <a:cubicBezTo>
                    <a:pt x="7182612" y="0"/>
                    <a:pt x="7248525" y="65913"/>
                    <a:pt x="7248525" y="147193"/>
                  </a:cubicBezTo>
                  <a:lnTo>
                    <a:pt x="7248525" y="3532378"/>
                  </a:lnTo>
                  <a:cubicBezTo>
                    <a:pt x="7248525" y="3613658"/>
                    <a:pt x="7182612" y="3679571"/>
                    <a:pt x="7101332" y="3679571"/>
                  </a:cubicBezTo>
                  <a:lnTo>
                    <a:pt x="147193" y="3679571"/>
                  </a:lnTo>
                  <a:cubicBezTo>
                    <a:pt x="65913" y="3679571"/>
                    <a:pt x="0" y="3613658"/>
                    <a:pt x="0" y="3532378"/>
                  </a:cubicBezTo>
                  <a:close/>
                </a:path>
              </a:pathLst>
            </a:custGeom>
            <a:solidFill>
              <a:srgbClr val="DCFCE7"/>
            </a:solidFill>
            <a:ln w="14299" cap="sq">
              <a:solidFill>
                <a:srgbClr val="16A34A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2354049" y="2941720"/>
            <a:ext cx="514752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4"/>
              </a:lnSpc>
            </a:pPr>
            <a:r>
              <a:rPr lang="en-US" sz="4803">
                <a:solidFill>
                  <a:srgbClr val="DB2777"/>
                </a:solidFill>
                <a:latin typeface="Bantayog"/>
                <a:ea typeface="Bantayog"/>
                <a:cs typeface="Bantayog"/>
                <a:sym typeface="Bantayog"/>
              </a:rPr>
              <a:t>180 </a:t>
            </a:r>
            <a:r>
              <a:rPr lang="en-US" sz="4803">
                <a:solidFill>
                  <a:srgbClr val="16A34A"/>
                </a:solidFill>
                <a:latin typeface="Bantayog"/>
                <a:ea typeface="Bantayog"/>
                <a:cs typeface="Bantayog"/>
                <a:sym typeface="Bantayog"/>
              </a:rPr>
              <a:t>days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54049" y="3902593"/>
            <a:ext cx="514752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Avg wait for endocrinologist (public hospital, 2025)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28578" y="4509164"/>
            <a:ext cx="487299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KKM Performance Report 2025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6333" y="6020705"/>
            <a:ext cx="1647206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Why digital + AI is the proven solution: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94915" y="6426060"/>
            <a:ext cx="16898169" cy="1084983"/>
            <a:chOff x="0" y="0"/>
            <a:chExt cx="22530892" cy="14466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530944" cy="1446784"/>
            </a:xfrm>
            <a:custGeom>
              <a:avLst/>
              <a:gdLst/>
              <a:ahLst/>
              <a:cxnLst/>
              <a:rect r="r" b="b" t="t" l="l"/>
              <a:pathLst>
                <a:path h="1446784" w="22530944">
                  <a:moveTo>
                    <a:pt x="0" y="57912"/>
                  </a:moveTo>
                  <a:cubicBezTo>
                    <a:pt x="0" y="25908"/>
                    <a:pt x="25908" y="0"/>
                    <a:pt x="57912" y="0"/>
                  </a:cubicBezTo>
                  <a:lnTo>
                    <a:pt x="22473031" y="0"/>
                  </a:lnTo>
                  <a:cubicBezTo>
                    <a:pt x="22505036" y="0"/>
                    <a:pt x="22530944" y="25908"/>
                    <a:pt x="22530944" y="57912"/>
                  </a:cubicBezTo>
                  <a:lnTo>
                    <a:pt x="22530944" y="1388872"/>
                  </a:lnTo>
                  <a:cubicBezTo>
                    <a:pt x="22530944" y="1420876"/>
                    <a:pt x="22505036" y="1446784"/>
                    <a:pt x="22473031" y="1446784"/>
                  </a:cubicBezTo>
                  <a:lnTo>
                    <a:pt x="57912" y="1446784"/>
                  </a:lnTo>
                  <a:cubicBezTo>
                    <a:pt x="25908" y="1446784"/>
                    <a:pt x="0" y="1420876"/>
                    <a:pt x="0" y="1388872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702059" y="6433214"/>
            <a:ext cx="96088" cy="1070686"/>
            <a:chOff x="0" y="0"/>
            <a:chExt cx="128118" cy="142758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8143" cy="1427607"/>
            </a:xfrm>
            <a:custGeom>
              <a:avLst/>
              <a:gdLst/>
              <a:ahLst/>
              <a:cxnLst/>
              <a:rect r="r" b="b" t="t" l="l"/>
              <a:pathLst>
                <a:path h="142760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1427607"/>
                  </a:lnTo>
                  <a:lnTo>
                    <a:pt x="0" y="1427607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45226" y="6533502"/>
            <a:ext cx="1619753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6A34A"/>
                </a:solidFill>
                <a:latin typeface="Bantayog"/>
                <a:ea typeface="Bantayog"/>
                <a:cs typeface="Bantayog"/>
                <a:sym typeface="Bantayog"/>
              </a:rPr>
              <a:t>AI chatbots reduce HbA1c by 0.6% in 6 months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45226" y="6972757"/>
            <a:ext cx="1619753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"Patients using LLM-based diabetes coaches Systems  saw a 0.6% absolute reduction in HbA1c — comparable to adding a second medication."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45226" y="7315924"/>
            <a:ext cx="16197539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Nature Digital Medicine, March 2025 (n=2,400 patients)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94915" y="7634011"/>
            <a:ext cx="16898169" cy="1084983"/>
            <a:chOff x="0" y="0"/>
            <a:chExt cx="22530892" cy="144664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530944" cy="1446784"/>
            </a:xfrm>
            <a:custGeom>
              <a:avLst/>
              <a:gdLst/>
              <a:ahLst/>
              <a:cxnLst/>
              <a:rect r="r" b="b" t="t" l="l"/>
              <a:pathLst>
                <a:path h="1446784" w="22530944">
                  <a:moveTo>
                    <a:pt x="0" y="57912"/>
                  </a:moveTo>
                  <a:cubicBezTo>
                    <a:pt x="0" y="25908"/>
                    <a:pt x="25908" y="0"/>
                    <a:pt x="57912" y="0"/>
                  </a:cubicBezTo>
                  <a:lnTo>
                    <a:pt x="22473031" y="0"/>
                  </a:lnTo>
                  <a:cubicBezTo>
                    <a:pt x="22505036" y="0"/>
                    <a:pt x="22530944" y="25908"/>
                    <a:pt x="22530944" y="57912"/>
                  </a:cubicBezTo>
                  <a:lnTo>
                    <a:pt x="22530944" y="1388872"/>
                  </a:lnTo>
                  <a:cubicBezTo>
                    <a:pt x="22530944" y="1420876"/>
                    <a:pt x="22505036" y="1446784"/>
                    <a:pt x="22473031" y="1446784"/>
                  </a:cubicBezTo>
                  <a:lnTo>
                    <a:pt x="57912" y="1446784"/>
                  </a:lnTo>
                  <a:cubicBezTo>
                    <a:pt x="25908" y="1446784"/>
                    <a:pt x="0" y="1420876"/>
                    <a:pt x="0" y="1388872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702059" y="7641165"/>
            <a:ext cx="96088" cy="1070686"/>
            <a:chOff x="0" y="0"/>
            <a:chExt cx="128118" cy="142758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8143" cy="1427607"/>
            </a:xfrm>
            <a:custGeom>
              <a:avLst/>
              <a:gdLst/>
              <a:ahLst/>
              <a:cxnLst/>
              <a:rect r="r" b="b" t="t" l="l"/>
              <a:pathLst>
                <a:path h="142760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1427607"/>
                  </a:lnTo>
                  <a:lnTo>
                    <a:pt x="0" y="1427607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045226" y="7741453"/>
            <a:ext cx="1619753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563EB"/>
                </a:solidFill>
                <a:latin typeface="Bantayog"/>
                <a:ea typeface="Bantayog"/>
                <a:cs typeface="Bantayog"/>
                <a:sym typeface="Bantayog"/>
              </a:rPr>
              <a:t>Computer vision lab interpretation: 96% accuracy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45226" y="8180708"/>
            <a:ext cx="1619753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"Multimodal AI models extracting values from lab photos achieved 96% accuracy vs human pathologists."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45226" y="8523875"/>
            <a:ext cx="16197539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JAMA Network Open, January 2026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694915" y="8841962"/>
            <a:ext cx="16898169" cy="1084983"/>
            <a:chOff x="0" y="0"/>
            <a:chExt cx="22530892" cy="14466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530944" cy="1446784"/>
            </a:xfrm>
            <a:custGeom>
              <a:avLst/>
              <a:gdLst/>
              <a:ahLst/>
              <a:cxnLst/>
              <a:rect r="r" b="b" t="t" l="l"/>
              <a:pathLst>
                <a:path h="1446784" w="22530944">
                  <a:moveTo>
                    <a:pt x="0" y="57912"/>
                  </a:moveTo>
                  <a:cubicBezTo>
                    <a:pt x="0" y="25908"/>
                    <a:pt x="25908" y="0"/>
                    <a:pt x="57912" y="0"/>
                  </a:cubicBezTo>
                  <a:lnTo>
                    <a:pt x="22473031" y="0"/>
                  </a:lnTo>
                  <a:cubicBezTo>
                    <a:pt x="22505036" y="0"/>
                    <a:pt x="22530944" y="25908"/>
                    <a:pt x="22530944" y="57912"/>
                  </a:cubicBezTo>
                  <a:lnTo>
                    <a:pt x="22530944" y="1388872"/>
                  </a:lnTo>
                  <a:cubicBezTo>
                    <a:pt x="22530944" y="1420876"/>
                    <a:pt x="22505036" y="1446784"/>
                    <a:pt x="22473031" y="1446784"/>
                  </a:cubicBezTo>
                  <a:lnTo>
                    <a:pt x="57912" y="1446784"/>
                  </a:lnTo>
                  <a:cubicBezTo>
                    <a:pt x="25908" y="1446784"/>
                    <a:pt x="0" y="1420876"/>
                    <a:pt x="0" y="1388872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702059" y="8849116"/>
            <a:ext cx="96088" cy="1070686"/>
            <a:chOff x="0" y="0"/>
            <a:chExt cx="128118" cy="142758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8143" cy="1427607"/>
            </a:xfrm>
            <a:custGeom>
              <a:avLst/>
              <a:gdLst/>
              <a:ahLst/>
              <a:cxnLst/>
              <a:rect r="r" b="b" t="t" l="l"/>
              <a:pathLst>
                <a:path h="142760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1427607"/>
                  </a:lnTo>
                  <a:lnTo>
                    <a:pt x="0" y="1427607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045226" y="8949404"/>
            <a:ext cx="1619753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7C3AED"/>
                </a:solidFill>
                <a:latin typeface="Bantayog"/>
                <a:ea typeface="Bantayog"/>
                <a:cs typeface="Bantayog"/>
                <a:sym typeface="Bantayog"/>
              </a:rPr>
              <a:t>Telemedicine cuts specialist wait by 64%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45226" y="9388659"/>
            <a:ext cx="1619753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"Asynchronous patient-doctor data sharing reduced endocrinology wait times in ASEAN clinics by 64%."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45226" y="9731826"/>
            <a:ext cx="16197539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Lancet Digital Health, October 2025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82363"/>
            <a:chOff x="0" y="0"/>
            <a:chExt cx="24402453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09855"/>
            </a:xfrm>
            <a:custGeom>
              <a:avLst/>
              <a:gdLst/>
              <a:ahLst/>
              <a:cxnLst/>
              <a:rect r="r" b="b" t="t" l="l"/>
              <a:pathLst>
                <a:path h="10985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11804" y="274539"/>
            <a:ext cx="521618" cy="521618"/>
            <a:chOff x="0" y="0"/>
            <a:chExt cx="695490" cy="6954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5452" cy="695452"/>
            </a:xfrm>
            <a:custGeom>
              <a:avLst/>
              <a:gdLst/>
              <a:ahLst/>
              <a:cxnLst/>
              <a:rect r="r" b="b" t="t" l="l"/>
              <a:pathLst>
                <a:path h="695452" w="695452">
                  <a:moveTo>
                    <a:pt x="0" y="208661"/>
                  </a:moveTo>
                  <a:cubicBezTo>
                    <a:pt x="0" y="93472"/>
                    <a:pt x="93472" y="0"/>
                    <a:pt x="208661" y="0"/>
                  </a:cubicBezTo>
                  <a:lnTo>
                    <a:pt x="486791" y="0"/>
                  </a:lnTo>
                  <a:cubicBezTo>
                    <a:pt x="601980" y="0"/>
                    <a:pt x="695452" y="93472"/>
                    <a:pt x="695452" y="208661"/>
                  </a:cubicBezTo>
                  <a:lnTo>
                    <a:pt x="695452" y="486791"/>
                  </a:lnTo>
                  <a:cubicBezTo>
                    <a:pt x="695452" y="601980"/>
                    <a:pt x="601980" y="695452"/>
                    <a:pt x="486791" y="695452"/>
                  </a:cubicBezTo>
                  <a:lnTo>
                    <a:pt x="208661" y="695452"/>
                  </a:lnTo>
                  <a:cubicBezTo>
                    <a:pt x="93472" y="695452"/>
                    <a:pt x="0" y="602107"/>
                    <a:pt x="0" y="486791"/>
                  </a:cubicBezTo>
                  <a:close/>
                </a:path>
              </a:pathLst>
            </a:custGeom>
            <a:solidFill>
              <a:srgbClr val="ACFFC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1804" y="274539"/>
            <a:ext cx="521618" cy="521618"/>
            <a:chOff x="0" y="0"/>
            <a:chExt cx="695490" cy="6954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5487" cy="695487"/>
            </a:xfrm>
            <a:custGeom>
              <a:avLst/>
              <a:gdLst/>
              <a:ahLst/>
              <a:cxnLst/>
              <a:rect r="r" b="b" t="t" l="l"/>
              <a:pathLst>
                <a:path h="695487" w="695487">
                  <a:moveTo>
                    <a:pt x="0" y="0"/>
                  </a:moveTo>
                  <a:lnTo>
                    <a:pt x="695487" y="0"/>
                  </a:lnTo>
                  <a:lnTo>
                    <a:pt x="69548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695490" cy="743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🩺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70686" y="319916"/>
            <a:ext cx="480435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Diabetes Control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95039" y="310391"/>
            <a:ext cx="754969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Impact &amp; Sustainability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4189" y="1034282"/>
            <a:ext cx="16472068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Real Impact, Real Numbers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04189" y="1882007"/>
            <a:ext cx="16898169" cy="3583248"/>
            <a:chOff x="0" y="0"/>
            <a:chExt cx="22530892" cy="47776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530944" cy="4777740"/>
            </a:xfrm>
            <a:custGeom>
              <a:avLst/>
              <a:gdLst/>
              <a:ahLst/>
              <a:cxnLst/>
              <a:rect r="r" b="b" t="t" l="l"/>
              <a:pathLst>
                <a:path h="4777740" w="22530944">
                  <a:moveTo>
                    <a:pt x="0" y="191135"/>
                  </a:moveTo>
                  <a:cubicBezTo>
                    <a:pt x="0" y="85598"/>
                    <a:pt x="85598" y="0"/>
                    <a:pt x="191135" y="0"/>
                  </a:cubicBezTo>
                  <a:lnTo>
                    <a:pt x="22339808" y="0"/>
                  </a:lnTo>
                  <a:cubicBezTo>
                    <a:pt x="22445346" y="0"/>
                    <a:pt x="22530944" y="85598"/>
                    <a:pt x="22530944" y="191135"/>
                  </a:cubicBezTo>
                  <a:lnTo>
                    <a:pt x="22530944" y="4586605"/>
                  </a:lnTo>
                  <a:cubicBezTo>
                    <a:pt x="22530944" y="4692142"/>
                    <a:pt x="22445346" y="4777740"/>
                    <a:pt x="22339808" y="4777740"/>
                  </a:cubicBezTo>
                  <a:lnTo>
                    <a:pt x="191135" y="4777740"/>
                  </a:lnTo>
                  <a:cubicBezTo>
                    <a:pt x="85598" y="4777613"/>
                    <a:pt x="0" y="4692142"/>
                    <a:pt x="0" y="4586605"/>
                  </a:cubicBezTo>
                  <a:close/>
                </a:path>
              </a:pathLst>
            </a:custGeom>
            <a:solidFill>
              <a:srgbClr val="DCFCE7"/>
            </a:solidFill>
            <a:ln w="14299" cap="sq">
              <a:solidFill>
                <a:srgbClr val="16A34A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585872" y="2007375"/>
            <a:ext cx="1633480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6A34A"/>
                </a:solidFill>
                <a:latin typeface="Bantayog"/>
                <a:ea typeface="Bantayog"/>
                <a:cs typeface="Bantayog"/>
                <a:sym typeface="Bantayog"/>
              </a:rPr>
              <a:t>Encik Razak, 53 — Taxi driver in Petaling Jaya — Type 2 diabetes, 6 years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5872" y="2546918"/>
            <a:ext cx="7961500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C26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❌  BEFORE (no app):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5872" y="2977772"/>
            <a:ext cx="7961500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Eats nasi lemak every morning, sugar spikes to 240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Doesn't know which foods are safe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Next specialist appointment: 4 weeks away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Forgot to take medication twice this week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HbA1c stuck at 8.2% for 2 years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59175" y="2546918"/>
            <a:ext cx="7961500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6A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✅  AFTER (with our app):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59175" y="2977772"/>
            <a:ext cx="7961500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AI Coach: “Half rice + extra egg + teh-o kosong”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Uploads lab photo → AI flags high LDL instantly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Sends data to Dr. Sarah → she adjusts plan same day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Daily plan reminds medication timing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HbA1c drops to 7.4% in 3 months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5872" y="4968145"/>
            <a:ext cx="1633480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Result: Encik Razak avoids kidney complications, saves RM 2,400/year in hospital visits, and feels in control for the first time.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04189" y="5725487"/>
            <a:ext cx="8387601" cy="3720513"/>
            <a:chOff x="0" y="0"/>
            <a:chExt cx="11183468" cy="4960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183366" cy="4960620"/>
            </a:xfrm>
            <a:custGeom>
              <a:avLst/>
              <a:gdLst/>
              <a:ahLst/>
              <a:cxnLst/>
              <a:rect r="r" b="b" t="t" l="l"/>
              <a:pathLst>
                <a:path h="4960620" w="11183366">
                  <a:moveTo>
                    <a:pt x="0" y="198374"/>
                  </a:moveTo>
                  <a:cubicBezTo>
                    <a:pt x="0" y="88900"/>
                    <a:pt x="88900" y="0"/>
                    <a:pt x="198374" y="0"/>
                  </a:cubicBezTo>
                  <a:lnTo>
                    <a:pt x="10984992" y="0"/>
                  </a:lnTo>
                  <a:cubicBezTo>
                    <a:pt x="11094593" y="0"/>
                    <a:pt x="11183366" y="88900"/>
                    <a:pt x="11183366" y="198374"/>
                  </a:cubicBezTo>
                  <a:lnTo>
                    <a:pt x="11183366" y="4762246"/>
                  </a:lnTo>
                  <a:cubicBezTo>
                    <a:pt x="11183366" y="4871847"/>
                    <a:pt x="11094466" y="4960620"/>
                    <a:pt x="10984992" y="4960620"/>
                  </a:cubicBezTo>
                  <a:lnTo>
                    <a:pt x="198374" y="4960620"/>
                  </a:lnTo>
                  <a:cubicBezTo>
                    <a:pt x="88900" y="4960747"/>
                    <a:pt x="0" y="4871847"/>
                    <a:pt x="0" y="4762246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585872" y="5831805"/>
            <a:ext cx="7824235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6A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🏥  Ready to Pilot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85872" y="6331296"/>
            <a:ext cx="782423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Klinik Kesihatan Bandar Botanic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85872" y="6889890"/>
            <a:ext cx="7824235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• 1,200 diabetes patients on file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• Endocrinologist visits every 3-4 months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• Our app fills the 90-day gap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85872" y="8047130"/>
            <a:ext cx="782423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Backup: MOH Klinik Komuniti, NADI,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Persatuan Diabetes Malaysia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952022" y="5725487"/>
            <a:ext cx="8387601" cy="3720513"/>
            <a:chOff x="0" y="0"/>
            <a:chExt cx="11183468" cy="49606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183366" cy="4960620"/>
            </a:xfrm>
            <a:custGeom>
              <a:avLst/>
              <a:gdLst/>
              <a:ahLst/>
              <a:cxnLst/>
              <a:rect r="r" b="b" t="t" l="l"/>
              <a:pathLst>
                <a:path h="4960620" w="11183366">
                  <a:moveTo>
                    <a:pt x="0" y="198374"/>
                  </a:moveTo>
                  <a:cubicBezTo>
                    <a:pt x="0" y="88900"/>
                    <a:pt x="88900" y="0"/>
                    <a:pt x="198374" y="0"/>
                  </a:cubicBezTo>
                  <a:lnTo>
                    <a:pt x="10984992" y="0"/>
                  </a:lnTo>
                  <a:cubicBezTo>
                    <a:pt x="11094593" y="0"/>
                    <a:pt x="11183366" y="88900"/>
                    <a:pt x="11183366" y="198374"/>
                  </a:cubicBezTo>
                  <a:lnTo>
                    <a:pt x="11183366" y="4762246"/>
                  </a:lnTo>
                  <a:cubicBezTo>
                    <a:pt x="11183366" y="4871847"/>
                    <a:pt x="11094466" y="4960620"/>
                    <a:pt x="10984992" y="4960620"/>
                  </a:cubicBezTo>
                  <a:lnTo>
                    <a:pt x="198374" y="4960620"/>
                  </a:lnTo>
                  <a:cubicBezTo>
                    <a:pt x="88900" y="4960747"/>
                    <a:pt x="0" y="4871847"/>
                    <a:pt x="0" y="4762246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9233705" y="5831805"/>
            <a:ext cx="7824235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6A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💰  Cost per User / Month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233705" y="6409449"/>
            <a:ext cx="5490686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Bedrock (200 chats)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724391" y="6409449"/>
            <a:ext cx="233353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$0.10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33705" y="6752615"/>
            <a:ext cx="5490686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Lambda + API Gateway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724391" y="6752615"/>
            <a:ext cx="233353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Free tier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233705" y="7095782"/>
            <a:ext cx="5490686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DynamoDB (3 tables)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724391" y="7095782"/>
            <a:ext cx="233353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Free tier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233705" y="7438958"/>
            <a:ext cx="5490686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SES + CloudFront + S3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724391" y="7438958"/>
            <a:ext cx="233353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$0.03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233705" y="7988027"/>
            <a:ext cx="549068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TOTAL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724391" y="7978502"/>
            <a:ext cx="23335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1"/>
              </a:lnSpc>
            </a:pPr>
            <a:r>
              <a:rPr lang="en-US" sz="2101">
                <a:solidFill>
                  <a:srgbClr val="16A34A"/>
                </a:solidFill>
                <a:latin typeface="Bantayog"/>
                <a:ea typeface="Bantayog"/>
                <a:cs typeface="Bantayog"/>
                <a:sym typeface="Bantayog"/>
              </a:rPr>
              <a:t>$0.13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233705" y="8458933"/>
            <a:ext cx="782423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Less than half a ringgit per month.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Sustainable without external funding.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82363"/>
            <a:chOff x="0" y="0"/>
            <a:chExt cx="24402453" cy="1098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09855"/>
            </a:xfrm>
            <a:custGeom>
              <a:avLst/>
              <a:gdLst/>
              <a:ahLst/>
              <a:cxnLst/>
              <a:rect r="r" b="b" t="t" l="l"/>
              <a:pathLst>
                <a:path h="10985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1804" y="274539"/>
            <a:ext cx="521618" cy="521618"/>
            <a:chOff x="0" y="0"/>
            <a:chExt cx="695490" cy="6954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5452" cy="695452"/>
            </a:xfrm>
            <a:custGeom>
              <a:avLst/>
              <a:gdLst/>
              <a:ahLst/>
              <a:cxnLst/>
              <a:rect r="r" b="b" t="t" l="l"/>
              <a:pathLst>
                <a:path h="695452" w="695452">
                  <a:moveTo>
                    <a:pt x="0" y="208661"/>
                  </a:moveTo>
                  <a:cubicBezTo>
                    <a:pt x="0" y="93472"/>
                    <a:pt x="93472" y="0"/>
                    <a:pt x="208661" y="0"/>
                  </a:cubicBezTo>
                  <a:lnTo>
                    <a:pt x="486791" y="0"/>
                  </a:lnTo>
                  <a:cubicBezTo>
                    <a:pt x="601980" y="0"/>
                    <a:pt x="695452" y="93472"/>
                    <a:pt x="695452" y="208661"/>
                  </a:cubicBezTo>
                  <a:lnTo>
                    <a:pt x="695452" y="486791"/>
                  </a:lnTo>
                  <a:cubicBezTo>
                    <a:pt x="695452" y="601980"/>
                    <a:pt x="601980" y="695452"/>
                    <a:pt x="486791" y="695452"/>
                  </a:cubicBezTo>
                  <a:lnTo>
                    <a:pt x="208661" y="695452"/>
                  </a:lnTo>
                  <a:cubicBezTo>
                    <a:pt x="93472" y="695452"/>
                    <a:pt x="0" y="602107"/>
                    <a:pt x="0" y="486791"/>
                  </a:cubicBezTo>
                  <a:close/>
                </a:path>
              </a:pathLst>
            </a:custGeom>
            <a:solidFill>
              <a:srgbClr val="ACFFC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11804" y="274539"/>
            <a:ext cx="521618" cy="521618"/>
            <a:chOff x="0" y="0"/>
            <a:chExt cx="695490" cy="695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5487" cy="695487"/>
            </a:xfrm>
            <a:custGeom>
              <a:avLst/>
              <a:gdLst/>
              <a:ahLst/>
              <a:cxnLst/>
              <a:rect r="r" b="b" t="t" l="l"/>
              <a:pathLst>
                <a:path h="695487" w="695487">
                  <a:moveTo>
                    <a:pt x="0" y="0"/>
                  </a:moveTo>
                  <a:lnTo>
                    <a:pt x="695487" y="0"/>
                  </a:lnTo>
                  <a:lnTo>
                    <a:pt x="69548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695490" cy="743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🩺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70686" y="319916"/>
            <a:ext cx="480435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Diabetes Control AI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95039" y="310391"/>
            <a:ext cx="754969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System Architecture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6333" y="1157249"/>
            <a:ext cx="16472068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How It Works — Step by Step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1804" y="2049485"/>
            <a:ext cx="123540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STEP 1</a:t>
            </a:r>
          </a:p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Users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28146" y="2039941"/>
            <a:ext cx="4567952" cy="724462"/>
            <a:chOff x="0" y="0"/>
            <a:chExt cx="6090602" cy="9659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90666" cy="965962"/>
            </a:xfrm>
            <a:custGeom>
              <a:avLst/>
              <a:gdLst/>
              <a:ahLst/>
              <a:cxnLst/>
              <a:rect r="r" b="b" t="t" l="l"/>
              <a:pathLst>
                <a:path h="965962" w="6090666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5974715" y="0"/>
                  </a:lnTo>
                  <a:cubicBezTo>
                    <a:pt x="6038723" y="0"/>
                    <a:pt x="6090666" y="51943"/>
                    <a:pt x="6090666" y="115951"/>
                  </a:cubicBezTo>
                  <a:lnTo>
                    <a:pt x="6090666" y="850011"/>
                  </a:lnTo>
                  <a:cubicBezTo>
                    <a:pt x="6090666" y="914019"/>
                    <a:pt x="6038723" y="965962"/>
                    <a:pt x="5974715" y="965962"/>
                  </a:cubicBezTo>
                  <a:lnTo>
                    <a:pt x="115951" y="965962"/>
                  </a:lnTo>
                  <a:cubicBezTo>
                    <a:pt x="51943" y="965962"/>
                    <a:pt x="0" y="914019"/>
                    <a:pt x="0" y="850011"/>
                  </a:cubicBezTo>
                  <a:close/>
                </a:path>
              </a:pathLst>
            </a:custGeom>
            <a:solidFill>
              <a:srgbClr val="DCFCE7"/>
            </a:solidFill>
            <a:ln w="3813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647206" y="2059010"/>
            <a:ext cx="4529823" cy="686336"/>
            <a:chOff x="0" y="0"/>
            <a:chExt cx="6039764" cy="9151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39758" cy="915119"/>
            </a:xfrm>
            <a:custGeom>
              <a:avLst/>
              <a:gdLst/>
              <a:ahLst/>
              <a:cxnLst/>
              <a:rect r="r" b="b" t="t" l="l"/>
              <a:pathLst>
                <a:path h="915119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601" r="0" b="-7860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039764" cy="934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16A34A"/>
                  </a:solidFill>
                  <a:latin typeface="Bantayog"/>
                  <a:ea typeface="Bantayog"/>
                  <a:cs typeface="Bantayog"/>
                  <a:sym typeface="Bantayog"/>
                </a:rPr>
                <a:t>Patient App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16A34A"/>
                  </a:solidFill>
                  <a:latin typeface="Bantayog"/>
                  <a:ea typeface="Bantayog"/>
                  <a:cs typeface="Bantayog"/>
                  <a:sym typeface="Bantayog"/>
                </a:rPr>
                <a:t>Profile · AI Tools · Send to Dr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32499" y="2039941"/>
            <a:ext cx="4567952" cy="724462"/>
            <a:chOff x="0" y="0"/>
            <a:chExt cx="6090602" cy="96594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0666" cy="965962"/>
            </a:xfrm>
            <a:custGeom>
              <a:avLst/>
              <a:gdLst/>
              <a:ahLst/>
              <a:cxnLst/>
              <a:rect r="r" b="b" t="t" l="l"/>
              <a:pathLst>
                <a:path h="965962" w="6090666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5974715" y="0"/>
                  </a:lnTo>
                  <a:cubicBezTo>
                    <a:pt x="6038723" y="0"/>
                    <a:pt x="6090666" y="51943"/>
                    <a:pt x="6090666" y="115951"/>
                  </a:cubicBezTo>
                  <a:lnTo>
                    <a:pt x="6090666" y="850011"/>
                  </a:lnTo>
                  <a:cubicBezTo>
                    <a:pt x="6090666" y="914019"/>
                    <a:pt x="6038723" y="965962"/>
                    <a:pt x="5974715" y="965962"/>
                  </a:cubicBezTo>
                  <a:lnTo>
                    <a:pt x="115951" y="965962"/>
                  </a:lnTo>
                  <a:cubicBezTo>
                    <a:pt x="51943" y="965962"/>
                    <a:pt x="0" y="914019"/>
                    <a:pt x="0" y="850011"/>
                  </a:cubicBezTo>
                  <a:close/>
                </a:path>
              </a:pathLst>
            </a:custGeom>
            <a:solidFill>
              <a:srgbClr val="DBEAFE"/>
            </a:solidFill>
            <a:ln w="3813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451559" y="2059010"/>
            <a:ext cx="4529823" cy="686336"/>
            <a:chOff x="0" y="0"/>
            <a:chExt cx="6039764" cy="91511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39758" cy="915119"/>
            </a:xfrm>
            <a:custGeom>
              <a:avLst/>
              <a:gdLst/>
              <a:ahLst/>
              <a:cxnLst/>
              <a:rect r="r" b="b" t="t" l="l"/>
              <a:pathLst>
                <a:path h="915119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601" r="0" b="-7860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039764" cy="934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2563EB"/>
                  </a:solidFill>
                  <a:latin typeface="Bantayog"/>
                  <a:ea typeface="Bantayog"/>
                  <a:cs typeface="Bantayog"/>
                  <a:sym typeface="Bantayog"/>
                </a:rPr>
                <a:t>Doctor Dashboard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2563EB"/>
                  </a:solidFill>
                  <a:latin typeface="Bantayog"/>
                  <a:ea typeface="Bantayog"/>
                  <a:cs typeface="Bantayog"/>
                  <a:sym typeface="Bantayog"/>
                </a:rPr>
                <a:t>Charts · Alerts · Reports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236843" y="2039941"/>
            <a:ext cx="4567952" cy="724462"/>
            <a:chOff x="0" y="0"/>
            <a:chExt cx="6090602" cy="96594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090666" cy="965962"/>
            </a:xfrm>
            <a:custGeom>
              <a:avLst/>
              <a:gdLst/>
              <a:ahLst/>
              <a:cxnLst/>
              <a:rect r="r" b="b" t="t" l="l"/>
              <a:pathLst>
                <a:path h="965962" w="6090666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5974715" y="0"/>
                  </a:lnTo>
                  <a:cubicBezTo>
                    <a:pt x="6038723" y="0"/>
                    <a:pt x="6090666" y="51943"/>
                    <a:pt x="6090666" y="115951"/>
                  </a:cubicBezTo>
                  <a:lnTo>
                    <a:pt x="6090666" y="850011"/>
                  </a:lnTo>
                  <a:cubicBezTo>
                    <a:pt x="6090666" y="914019"/>
                    <a:pt x="6038723" y="965962"/>
                    <a:pt x="5974715" y="965962"/>
                  </a:cubicBezTo>
                  <a:lnTo>
                    <a:pt x="115951" y="965962"/>
                  </a:lnTo>
                  <a:cubicBezTo>
                    <a:pt x="51943" y="965962"/>
                    <a:pt x="0" y="914019"/>
                    <a:pt x="0" y="850011"/>
                  </a:cubicBezTo>
                  <a:close/>
                </a:path>
              </a:pathLst>
            </a:custGeom>
            <a:solidFill>
              <a:srgbClr val="F3E8FF"/>
            </a:solidFill>
            <a:ln w="3813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255912" y="2059010"/>
            <a:ext cx="4529823" cy="686336"/>
            <a:chOff x="0" y="0"/>
            <a:chExt cx="6039764" cy="91511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039758" cy="915119"/>
            </a:xfrm>
            <a:custGeom>
              <a:avLst/>
              <a:gdLst/>
              <a:ahLst/>
              <a:cxnLst/>
              <a:rect r="r" b="b" t="t" l="l"/>
              <a:pathLst>
                <a:path h="915119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601" r="0" b="-7860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6039764" cy="934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7C3AED"/>
                  </a:solidFill>
                  <a:latin typeface="Bantayog"/>
                  <a:ea typeface="Bantayog"/>
                  <a:cs typeface="Bantayog"/>
                  <a:sym typeface="Bantayog"/>
                </a:rPr>
                <a:t>Admin Panel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7C3AED"/>
                  </a:solidFill>
                  <a:latin typeface="Bantayog"/>
                  <a:ea typeface="Bantayog"/>
                  <a:cs typeface="Bantayog"/>
                  <a:sym typeface="Bantayog"/>
                </a:rPr>
                <a:t>Verify Doctors · Users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8510568" y="2766355"/>
            <a:ext cx="1372676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▼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11804" y="3216259"/>
            <a:ext cx="123540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STEP 2</a:t>
            </a:r>
          </a:p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Delivery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628146" y="3206715"/>
            <a:ext cx="14176658" cy="655834"/>
            <a:chOff x="0" y="0"/>
            <a:chExt cx="18902210" cy="87444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902172" cy="874395"/>
            </a:xfrm>
            <a:custGeom>
              <a:avLst/>
              <a:gdLst/>
              <a:ahLst/>
              <a:cxnLst/>
              <a:rect r="r" b="b" t="t" l="l"/>
              <a:pathLst>
                <a:path h="874395" w="18902172">
                  <a:moveTo>
                    <a:pt x="0" y="104902"/>
                  </a:moveTo>
                  <a:cubicBezTo>
                    <a:pt x="0" y="46990"/>
                    <a:pt x="46990" y="0"/>
                    <a:pt x="104902" y="0"/>
                  </a:cubicBezTo>
                  <a:lnTo>
                    <a:pt x="18797270" y="0"/>
                  </a:lnTo>
                  <a:cubicBezTo>
                    <a:pt x="18855182" y="0"/>
                    <a:pt x="18902172" y="46990"/>
                    <a:pt x="18902172" y="104902"/>
                  </a:cubicBezTo>
                  <a:lnTo>
                    <a:pt x="18902172" y="769493"/>
                  </a:lnTo>
                  <a:cubicBezTo>
                    <a:pt x="18902172" y="827405"/>
                    <a:pt x="18855182" y="874395"/>
                    <a:pt x="18797270" y="874395"/>
                  </a:cubicBezTo>
                  <a:lnTo>
                    <a:pt x="104902" y="874395"/>
                  </a:lnTo>
                  <a:cubicBezTo>
                    <a:pt x="46990" y="874395"/>
                    <a:pt x="0" y="827405"/>
                    <a:pt x="0" y="769493"/>
                  </a:cubicBezTo>
                  <a:close/>
                </a:path>
              </a:pathLst>
            </a:custGeom>
            <a:solidFill>
              <a:srgbClr val="FFFFFF"/>
            </a:solidFill>
            <a:ln w="3813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647206" y="3225784"/>
            <a:ext cx="14138529" cy="617703"/>
            <a:chOff x="0" y="0"/>
            <a:chExt cx="18851372" cy="8236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8851367" cy="823599"/>
            </a:xfrm>
            <a:custGeom>
              <a:avLst/>
              <a:gdLst/>
              <a:ahLst/>
              <a:cxnLst/>
              <a:rect r="r" b="b" t="t" l="l"/>
              <a:pathLst>
                <a:path h="823599" w="18851367">
                  <a:moveTo>
                    <a:pt x="0" y="0"/>
                  </a:moveTo>
                  <a:lnTo>
                    <a:pt x="18851367" y="0"/>
                  </a:lnTo>
                  <a:lnTo>
                    <a:pt x="18851367" y="823599"/>
                  </a:lnTo>
                  <a:lnTo>
                    <a:pt x="0" y="8235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992" r="0" b="-39599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8851372" cy="842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06B6D4"/>
                  </a:solidFill>
                  <a:latin typeface="Bantayog"/>
                  <a:ea typeface="Bantayog"/>
                  <a:cs typeface="Bantayog"/>
                  <a:sym typeface="Bantayog"/>
                </a:rPr>
                <a:t>Amazon CloudFront (HTTPS CDN) + Amazon S3 (Website Hosting)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8510568" y="3864493"/>
            <a:ext cx="1372676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▼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11804" y="4245759"/>
            <a:ext cx="123540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STEP 3</a:t>
            </a:r>
          </a:p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Auth+API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628146" y="4236215"/>
            <a:ext cx="6215158" cy="724462"/>
            <a:chOff x="0" y="0"/>
            <a:chExt cx="8286877" cy="96594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286877" cy="965962"/>
            </a:xfrm>
            <a:custGeom>
              <a:avLst/>
              <a:gdLst/>
              <a:ahLst/>
              <a:cxnLst/>
              <a:rect r="r" b="b" t="t" l="l"/>
              <a:pathLst>
                <a:path h="965962" w="8286877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8170926" y="0"/>
                  </a:lnTo>
                  <a:cubicBezTo>
                    <a:pt x="8234934" y="0"/>
                    <a:pt x="8286877" y="51943"/>
                    <a:pt x="8286877" y="115951"/>
                  </a:cubicBezTo>
                  <a:lnTo>
                    <a:pt x="8286877" y="850011"/>
                  </a:lnTo>
                  <a:cubicBezTo>
                    <a:pt x="8286877" y="914019"/>
                    <a:pt x="8234934" y="965962"/>
                    <a:pt x="8170926" y="965962"/>
                  </a:cubicBezTo>
                  <a:lnTo>
                    <a:pt x="115951" y="965962"/>
                  </a:lnTo>
                  <a:cubicBezTo>
                    <a:pt x="51943" y="965962"/>
                    <a:pt x="0" y="914019"/>
                    <a:pt x="0" y="850011"/>
                  </a:cubicBezTo>
                  <a:close/>
                </a:path>
              </a:pathLst>
            </a:custGeom>
            <a:solidFill>
              <a:srgbClr val="F3E8FF"/>
            </a:solidFill>
            <a:ln w="3813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647206" y="4255284"/>
            <a:ext cx="6177029" cy="686336"/>
            <a:chOff x="0" y="0"/>
            <a:chExt cx="8236039" cy="91511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236034" cy="915119"/>
            </a:xfrm>
            <a:custGeom>
              <a:avLst/>
              <a:gdLst/>
              <a:ahLst/>
              <a:cxnLst/>
              <a:rect r="r" b="b" t="t" l="l"/>
              <a:pathLst>
                <a:path h="915119" w="8236034">
                  <a:moveTo>
                    <a:pt x="0" y="0"/>
                  </a:moveTo>
                  <a:lnTo>
                    <a:pt x="8236034" y="0"/>
                  </a:lnTo>
                  <a:lnTo>
                    <a:pt x="8236034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8236039" cy="934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7C3AED"/>
                  </a:solidFill>
                  <a:latin typeface="Bantayog"/>
                  <a:ea typeface="Bantayog"/>
                  <a:cs typeface="Bantayog"/>
                  <a:sym typeface="Bantayog"/>
                </a:rPr>
                <a:t>Amazon Cognito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7C3AED"/>
                  </a:solidFill>
                  <a:latin typeface="Bantayog"/>
                  <a:ea typeface="Bantayog"/>
                  <a:cs typeface="Bantayog"/>
                  <a:sym typeface="Bantayog"/>
                </a:rPr>
                <a:t>Login · Role: Patient or Doctor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8030137" y="4538224"/>
            <a:ext cx="68633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→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491499" y="4236215"/>
            <a:ext cx="7313295" cy="724462"/>
            <a:chOff x="0" y="0"/>
            <a:chExt cx="9751060" cy="96594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751060" cy="965962"/>
            </a:xfrm>
            <a:custGeom>
              <a:avLst/>
              <a:gdLst/>
              <a:ahLst/>
              <a:cxnLst/>
              <a:rect r="r" b="b" t="t" l="l"/>
              <a:pathLst>
                <a:path h="965962" w="9751060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9635109" y="0"/>
                  </a:lnTo>
                  <a:cubicBezTo>
                    <a:pt x="9699117" y="0"/>
                    <a:pt x="9751060" y="51943"/>
                    <a:pt x="9751060" y="115951"/>
                  </a:cubicBezTo>
                  <a:lnTo>
                    <a:pt x="9751060" y="850011"/>
                  </a:lnTo>
                  <a:cubicBezTo>
                    <a:pt x="9751060" y="914019"/>
                    <a:pt x="9699117" y="965962"/>
                    <a:pt x="9635109" y="965962"/>
                  </a:cubicBezTo>
                  <a:lnTo>
                    <a:pt x="115951" y="965962"/>
                  </a:lnTo>
                  <a:cubicBezTo>
                    <a:pt x="51943" y="965962"/>
                    <a:pt x="0" y="914019"/>
                    <a:pt x="0" y="850011"/>
                  </a:cubicBezTo>
                  <a:close/>
                </a:path>
              </a:pathLst>
            </a:custGeom>
            <a:solidFill>
              <a:srgbClr val="DCFCE7"/>
            </a:solidFill>
            <a:ln w="3813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8510568" y="4255284"/>
            <a:ext cx="7275166" cy="686336"/>
            <a:chOff x="0" y="0"/>
            <a:chExt cx="9700222" cy="91511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700218" cy="915119"/>
            </a:xfrm>
            <a:custGeom>
              <a:avLst/>
              <a:gdLst/>
              <a:ahLst/>
              <a:cxnLst/>
              <a:rect r="r" b="b" t="t" l="l"/>
              <a:pathLst>
                <a:path h="915119" w="9700218">
                  <a:moveTo>
                    <a:pt x="0" y="0"/>
                  </a:moveTo>
                  <a:lnTo>
                    <a:pt x="9700218" y="0"/>
                  </a:lnTo>
                  <a:lnTo>
                    <a:pt x="9700218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541" r="0" b="-15654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9700222" cy="934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16A34A"/>
                  </a:solidFill>
                  <a:latin typeface="Bantayog"/>
                  <a:ea typeface="Bantayog"/>
                  <a:cs typeface="Bantayog"/>
                  <a:sym typeface="Bantayog"/>
                </a:rPr>
                <a:t>API Gateway + Lambda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16A34A"/>
                  </a:solidFill>
                  <a:latin typeface="Bantayog"/>
                  <a:ea typeface="Bantayog"/>
                  <a:cs typeface="Bantayog"/>
                  <a:sym typeface="Bantayog"/>
                </a:rPr>
                <a:t>14 endpoints · Python 3.13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2079519" y="4962630"/>
            <a:ext cx="1372676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▼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11804" y="5412534"/>
            <a:ext cx="123540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STEP 4</a:t>
            </a:r>
          </a:p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Core AI</a:t>
            </a:r>
          </a:p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&amp; Data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628146" y="5334362"/>
            <a:ext cx="3950246" cy="1067638"/>
            <a:chOff x="0" y="0"/>
            <a:chExt cx="5266995" cy="142351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266944" cy="1423543"/>
            </a:xfrm>
            <a:custGeom>
              <a:avLst/>
              <a:gdLst/>
              <a:ahLst/>
              <a:cxnLst/>
              <a:rect r="r" b="b" t="t" l="l"/>
              <a:pathLst>
                <a:path h="1423543" w="5266944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5096129" y="0"/>
                  </a:lnTo>
                  <a:cubicBezTo>
                    <a:pt x="5190490" y="0"/>
                    <a:pt x="5266944" y="76454"/>
                    <a:pt x="5266944" y="170815"/>
                  </a:cubicBezTo>
                  <a:lnTo>
                    <a:pt x="5266944" y="1252728"/>
                  </a:lnTo>
                  <a:cubicBezTo>
                    <a:pt x="5266944" y="1347089"/>
                    <a:pt x="5190490" y="1423543"/>
                    <a:pt x="5096129" y="1423543"/>
                  </a:cubicBezTo>
                  <a:lnTo>
                    <a:pt x="170815" y="1423543"/>
                  </a:lnTo>
                  <a:cubicBezTo>
                    <a:pt x="76454" y="1423543"/>
                    <a:pt x="0" y="1347089"/>
                    <a:pt x="0" y="1252728"/>
                  </a:cubicBezTo>
                  <a:close/>
                </a:path>
              </a:pathLst>
            </a:custGeom>
            <a:solidFill>
              <a:srgbClr val="FFEDD5"/>
            </a:solidFill>
            <a:ln w="3813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647206" y="5353421"/>
            <a:ext cx="3912118" cy="1029504"/>
            <a:chOff x="0" y="0"/>
            <a:chExt cx="5216157" cy="137267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216155" cy="1372678"/>
            </a:xfrm>
            <a:custGeom>
              <a:avLst/>
              <a:gdLst/>
              <a:ahLst/>
              <a:cxnLst/>
              <a:rect r="r" b="b" t="t" l="l"/>
              <a:pathLst>
                <a:path h="1372678" w="5216155">
                  <a:moveTo>
                    <a:pt x="0" y="0"/>
                  </a:moveTo>
                  <a:lnTo>
                    <a:pt x="5216155" y="0"/>
                  </a:lnTo>
                  <a:lnTo>
                    <a:pt x="5216155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43" r="0" b="-2404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5216157" cy="1391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EA580C"/>
                  </a:solidFill>
                  <a:latin typeface="Bantayog"/>
                  <a:ea typeface="Bantayog"/>
                  <a:cs typeface="Bantayog"/>
                  <a:sym typeface="Bantayog"/>
                </a:rPr>
                <a:t>Amazon Bedrock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EA580C"/>
                  </a:solidFill>
                  <a:latin typeface="Bantayog"/>
                  <a:ea typeface="Bantayog"/>
                  <a:cs typeface="Bantayog"/>
                  <a:sym typeface="Bantayog"/>
                </a:rPr>
                <a:t>(Claude 3 Haiku)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EA580C"/>
                  </a:solidFill>
                  <a:latin typeface="Bantayog"/>
                  <a:ea typeface="Bantayog"/>
                  <a:cs typeface="Bantayog"/>
                  <a:sym typeface="Bantayog"/>
                </a:rPr>
                <a:t>Chat · Meal · Risk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EA580C"/>
                  </a:solidFill>
                  <a:latin typeface="Bantayog"/>
                  <a:ea typeface="Bantayog"/>
                  <a:cs typeface="Bantayog"/>
                  <a:sym typeface="Bantayog"/>
                </a:rPr>
                <a:t>Plan · Lab · Coach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814793" y="5334362"/>
            <a:ext cx="3950246" cy="1067638"/>
            <a:chOff x="0" y="0"/>
            <a:chExt cx="5266995" cy="142351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266944" cy="1423543"/>
            </a:xfrm>
            <a:custGeom>
              <a:avLst/>
              <a:gdLst/>
              <a:ahLst/>
              <a:cxnLst/>
              <a:rect r="r" b="b" t="t" l="l"/>
              <a:pathLst>
                <a:path h="1423543" w="5266944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5096129" y="0"/>
                  </a:lnTo>
                  <a:cubicBezTo>
                    <a:pt x="5190490" y="0"/>
                    <a:pt x="5266944" y="76454"/>
                    <a:pt x="5266944" y="170815"/>
                  </a:cubicBezTo>
                  <a:lnTo>
                    <a:pt x="5266944" y="1252728"/>
                  </a:lnTo>
                  <a:cubicBezTo>
                    <a:pt x="5266944" y="1347089"/>
                    <a:pt x="5190490" y="1423543"/>
                    <a:pt x="5096129" y="1423543"/>
                  </a:cubicBezTo>
                  <a:lnTo>
                    <a:pt x="170815" y="1423543"/>
                  </a:lnTo>
                  <a:cubicBezTo>
                    <a:pt x="76454" y="1423543"/>
                    <a:pt x="0" y="1347089"/>
                    <a:pt x="0" y="1252728"/>
                  </a:cubicBezTo>
                  <a:close/>
                </a:path>
              </a:pathLst>
            </a:custGeom>
            <a:solidFill>
              <a:srgbClr val="DBEAFE"/>
            </a:solidFill>
            <a:ln w="3813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5833853" y="5353421"/>
            <a:ext cx="3912118" cy="1029504"/>
            <a:chOff x="0" y="0"/>
            <a:chExt cx="5216157" cy="137267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216155" cy="1372678"/>
            </a:xfrm>
            <a:custGeom>
              <a:avLst/>
              <a:gdLst/>
              <a:ahLst/>
              <a:cxnLst/>
              <a:rect r="r" b="b" t="t" l="l"/>
              <a:pathLst>
                <a:path h="1372678" w="5216155">
                  <a:moveTo>
                    <a:pt x="0" y="0"/>
                  </a:moveTo>
                  <a:lnTo>
                    <a:pt x="5216155" y="0"/>
                  </a:lnTo>
                  <a:lnTo>
                    <a:pt x="5216155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43" r="0" b="-2404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5216157" cy="1391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2563EB"/>
                  </a:solidFill>
                  <a:latin typeface="Bantayog"/>
                  <a:ea typeface="Bantayog"/>
                  <a:cs typeface="Bantayog"/>
                  <a:sym typeface="Bantayog"/>
                </a:rPr>
                <a:t>Amazon DynamoDB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2563EB"/>
                  </a:solidFill>
                  <a:latin typeface="Bantayog"/>
                  <a:ea typeface="Bantayog"/>
                  <a:cs typeface="Bantayog"/>
                  <a:sym typeface="Bantayog"/>
                </a:rPr>
                <a:t>(3 Tables)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2563EB"/>
                  </a:solidFill>
                  <a:latin typeface="Bantayog"/>
                  <a:ea typeface="Bantayog"/>
                  <a:cs typeface="Bantayog"/>
                  <a:sym typeface="Bantayog"/>
                </a:rPr>
                <a:t>Profiles · Logs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2563EB"/>
                  </a:solidFill>
                  <a:latin typeface="Bantayog"/>
                  <a:ea typeface="Bantayog"/>
                  <a:cs typeface="Bantayog"/>
                  <a:sym typeface="Bantayog"/>
                </a:rPr>
                <a:t>Referrals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001440" y="5334362"/>
            <a:ext cx="3469815" cy="1067638"/>
            <a:chOff x="0" y="0"/>
            <a:chExt cx="4626420" cy="142351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626356" cy="1423543"/>
            </a:xfrm>
            <a:custGeom>
              <a:avLst/>
              <a:gdLst/>
              <a:ahLst/>
              <a:cxnLst/>
              <a:rect r="r" b="b" t="t" l="l"/>
              <a:pathLst>
                <a:path h="1423543" w="4626356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4455541" y="0"/>
                  </a:lnTo>
                  <a:cubicBezTo>
                    <a:pt x="4549902" y="0"/>
                    <a:pt x="4626356" y="76454"/>
                    <a:pt x="4626356" y="170815"/>
                  </a:cubicBezTo>
                  <a:lnTo>
                    <a:pt x="4626356" y="1252728"/>
                  </a:lnTo>
                  <a:cubicBezTo>
                    <a:pt x="4626356" y="1347089"/>
                    <a:pt x="4549902" y="1423543"/>
                    <a:pt x="4455541" y="1423543"/>
                  </a:cubicBezTo>
                  <a:lnTo>
                    <a:pt x="170815" y="1423543"/>
                  </a:lnTo>
                  <a:cubicBezTo>
                    <a:pt x="76454" y="1423543"/>
                    <a:pt x="0" y="1347089"/>
                    <a:pt x="0" y="1252728"/>
                  </a:cubicBezTo>
                  <a:close/>
                </a:path>
              </a:pathLst>
            </a:custGeom>
            <a:solidFill>
              <a:srgbClr val="F3E8FF"/>
            </a:solidFill>
            <a:ln w="3813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0020510" y="5353421"/>
            <a:ext cx="3431677" cy="1029504"/>
            <a:chOff x="0" y="0"/>
            <a:chExt cx="4575569" cy="137267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575575" cy="1372678"/>
            </a:xfrm>
            <a:custGeom>
              <a:avLst/>
              <a:gdLst/>
              <a:ahLst/>
              <a:cxnLst/>
              <a:rect r="r" b="b" t="t" l="l"/>
              <a:pathLst>
                <a:path h="1372678" w="4575575">
                  <a:moveTo>
                    <a:pt x="0" y="0"/>
                  </a:moveTo>
                  <a:lnTo>
                    <a:pt x="4575575" y="0"/>
                  </a:lnTo>
                  <a:lnTo>
                    <a:pt x="4575575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49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4575569" cy="1391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7C3AED"/>
                  </a:solidFill>
                  <a:latin typeface="Bantayog"/>
                  <a:ea typeface="Bantayog"/>
                  <a:cs typeface="Bantayog"/>
                  <a:sym typeface="Bantayog"/>
                </a:rPr>
                <a:t>Textract + Comprehend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7C3AED"/>
                  </a:solidFill>
                  <a:latin typeface="Bantayog"/>
                  <a:ea typeface="Bantayog"/>
                  <a:cs typeface="Bantayog"/>
                  <a:sym typeface="Bantayog"/>
                </a:rPr>
                <a:t>Medical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7C3AED"/>
                  </a:solidFill>
                  <a:latin typeface="Bantayog"/>
                  <a:ea typeface="Bantayog"/>
                  <a:cs typeface="Bantayog"/>
                  <a:sym typeface="Bantayog"/>
                </a:rPr>
                <a:t>Reads lab photos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7C3AED"/>
                  </a:solidFill>
                  <a:latin typeface="Bantayog"/>
                  <a:ea typeface="Bantayog"/>
                  <a:cs typeface="Bantayog"/>
                  <a:sym typeface="Bantayog"/>
                </a:rPr>
                <a:t>Extracts meds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707656" y="5334362"/>
            <a:ext cx="3469815" cy="1067638"/>
            <a:chOff x="0" y="0"/>
            <a:chExt cx="4626420" cy="142351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626356" cy="1423543"/>
            </a:xfrm>
            <a:custGeom>
              <a:avLst/>
              <a:gdLst/>
              <a:ahLst/>
              <a:cxnLst/>
              <a:rect r="r" b="b" t="t" l="l"/>
              <a:pathLst>
                <a:path h="1423543" w="4626356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4455541" y="0"/>
                  </a:lnTo>
                  <a:cubicBezTo>
                    <a:pt x="4549902" y="0"/>
                    <a:pt x="4626356" y="76454"/>
                    <a:pt x="4626356" y="170815"/>
                  </a:cubicBezTo>
                  <a:lnTo>
                    <a:pt x="4626356" y="1252728"/>
                  </a:lnTo>
                  <a:cubicBezTo>
                    <a:pt x="4626356" y="1347089"/>
                    <a:pt x="4549902" y="1423543"/>
                    <a:pt x="4455541" y="1423543"/>
                  </a:cubicBezTo>
                  <a:lnTo>
                    <a:pt x="170815" y="1423543"/>
                  </a:lnTo>
                  <a:cubicBezTo>
                    <a:pt x="76454" y="1423543"/>
                    <a:pt x="0" y="1347089"/>
                    <a:pt x="0" y="1252728"/>
                  </a:cubicBezTo>
                  <a:close/>
                </a:path>
              </a:pathLst>
            </a:custGeom>
            <a:solidFill>
              <a:srgbClr val="FCE7F3"/>
            </a:solidFill>
            <a:ln w="3813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3726725" y="5353421"/>
            <a:ext cx="3431677" cy="1029504"/>
            <a:chOff x="0" y="0"/>
            <a:chExt cx="4575569" cy="137267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575575" cy="1372678"/>
            </a:xfrm>
            <a:custGeom>
              <a:avLst/>
              <a:gdLst/>
              <a:ahLst/>
              <a:cxnLst/>
              <a:rect r="r" b="b" t="t" l="l"/>
              <a:pathLst>
                <a:path h="1372678" w="4575575">
                  <a:moveTo>
                    <a:pt x="0" y="0"/>
                  </a:moveTo>
                  <a:lnTo>
                    <a:pt x="4575575" y="0"/>
                  </a:lnTo>
                  <a:lnTo>
                    <a:pt x="4575575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4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4575569" cy="1391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DB2777"/>
                  </a:solidFill>
                  <a:latin typeface="Bantayog"/>
                  <a:ea typeface="Bantayog"/>
                  <a:cs typeface="Bantayog"/>
                  <a:sym typeface="Bantayog"/>
                </a:rPr>
                <a:t>Amazon Polly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DB2777"/>
                  </a:solidFill>
                  <a:latin typeface="Bantayog"/>
                  <a:ea typeface="Bantayog"/>
                  <a:cs typeface="Bantayog"/>
                  <a:sym typeface="Bantayog"/>
                </a:rPr>
                <a:t>(Text-to-Speech)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DB2777"/>
                  </a:solidFill>
                  <a:latin typeface="Bantayog"/>
                  <a:ea typeface="Bantayog"/>
                  <a:cs typeface="Bantayog"/>
                  <a:sym typeface="Bantayog"/>
                </a:rPr>
                <a:t>Reads results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DB2777"/>
                  </a:solidFill>
                  <a:latin typeface="Bantayog"/>
                  <a:ea typeface="Bantayog"/>
                  <a:cs typeface="Bantayog"/>
                  <a:sym typeface="Bantayog"/>
                </a:rPr>
                <a:t>aloud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8510568" y="6403934"/>
            <a:ext cx="1372676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▼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411804" y="6853838"/>
            <a:ext cx="123540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STEP 5</a:t>
            </a:r>
          </a:p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Output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628146" y="6775666"/>
            <a:ext cx="3950246" cy="793099"/>
            <a:chOff x="0" y="0"/>
            <a:chExt cx="5266995" cy="105746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266944" cy="1057402"/>
            </a:xfrm>
            <a:custGeom>
              <a:avLst/>
              <a:gdLst/>
              <a:ahLst/>
              <a:cxnLst/>
              <a:rect r="r" b="b" t="t" l="l"/>
              <a:pathLst>
                <a:path h="1057402" w="5266944">
                  <a:moveTo>
                    <a:pt x="0" y="126873"/>
                  </a:moveTo>
                  <a:cubicBezTo>
                    <a:pt x="0" y="56769"/>
                    <a:pt x="56769" y="0"/>
                    <a:pt x="126873" y="0"/>
                  </a:cubicBezTo>
                  <a:lnTo>
                    <a:pt x="5140071" y="0"/>
                  </a:lnTo>
                  <a:cubicBezTo>
                    <a:pt x="5210175" y="0"/>
                    <a:pt x="5266944" y="56769"/>
                    <a:pt x="5266944" y="126873"/>
                  </a:cubicBezTo>
                  <a:lnTo>
                    <a:pt x="5266944" y="930529"/>
                  </a:lnTo>
                  <a:cubicBezTo>
                    <a:pt x="5266944" y="1000633"/>
                    <a:pt x="5210175" y="1057402"/>
                    <a:pt x="5140071" y="1057402"/>
                  </a:cubicBezTo>
                  <a:lnTo>
                    <a:pt x="126873" y="1057402"/>
                  </a:lnTo>
                  <a:cubicBezTo>
                    <a:pt x="56769" y="1057529"/>
                    <a:pt x="0" y="1000633"/>
                    <a:pt x="0" y="930529"/>
                  </a:cubicBezTo>
                  <a:close/>
                </a:path>
              </a:pathLst>
            </a:custGeom>
            <a:solidFill>
              <a:srgbClr val="DCFCE7"/>
            </a:solidFill>
            <a:ln w="3813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647206" y="6794725"/>
            <a:ext cx="3912118" cy="754970"/>
            <a:chOff x="0" y="0"/>
            <a:chExt cx="5216157" cy="100662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216155" cy="1006625"/>
            </a:xfrm>
            <a:custGeom>
              <a:avLst/>
              <a:gdLst/>
              <a:ahLst/>
              <a:cxnLst/>
              <a:rect r="r" b="b" t="t" l="l"/>
              <a:pathLst>
                <a:path h="1006625" w="5216155">
                  <a:moveTo>
                    <a:pt x="0" y="0"/>
                  </a:moveTo>
                  <a:lnTo>
                    <a:pt x="5216155" y="0"/>
                  </a:lnTo>
                  <a:lnTo>
                    <a:pt x="5216155" y="1006625"/>
                  </a:lnTo>
                  <a:lnTo>
                    <a:pt x="0" y="10066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967" r="0" b="-50968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5216157" cy="10256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16A34A"/>
                  </a:solidFill>
                  <a:latin typeface="Bantayog"/>
                  <a:ea typeface="Bantayog"/>
                  <a:cs typeface="Bantayog"/>
                  <a:sym typeface="Bantayog"/>
                </a:rPr>
                <a:t>Amazon SES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16A34A"/>
                  </a:solidFill>
                  <a:latin typeface="Bantayog"/>
                  <a:ea typeface="Bantayog"/>
                  <a:cs typeface="Bantayog"/>
                  <a:sym typeface="Bantayog"/>
                </a:rPr>
                <a:t>Email reports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16A34A"/>
                  </a:solidFill>
                  <a:latin typeface="Bantayog"/>
                  <a:ea typeface="Bantayog"/>
                  <a:cs typeface="Bantayog"/>
                  <a:sym typeface="Bantayog"/>
                </a:rPr>
                <a:t>to patient inbox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5814793" y="6775666"/>
            <a:ext cx="3950246" cy="793099"/>
            <a:chOff x="0" y="0"/>
            <a:chExt cx="5266995" cy="105746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266944" cy="1057402"/>
            </a:xfrm>
            <a:custGeom>
              <a:avLst/>
              <a:gdLst/>
              <a:ahLst/>
              <a:cxnLst/>
              <a:rect r="r" b="b" t="t" l="l"/>
              <a:pathLst>
                <a:path h="1057402" w="5266944">
                  <a:moveTo>
                    <a:pt x="0" y="126873"/>
                  </a:moveTo>
                  <a:cubicBezTo>
                    <a:pt x="0" y="56769"/>
                    <a:pt x="56769" y="0"/>
                    <a:pt x="126873" y="0"/>
                  </a:cubicBezTo>
                  <a:lnTo>
                    <a:pt x="5140071" y="0"/>
                  </a:lnTo>
                  <a:cubicBezTo>
                    <a:pt x="5210175" y="0"/>
                    <a:pt x="5266944" y="56769"/>
                    <a:pt x="5266944" y="126873"/>
                  </a:cubicBezTo>
                  <a:lnTo>
                    <a:pt x="5266944" y="930529"/>
                  </a:lnTo>
                  <a:cubicBezTo>
                    <a:pt x="5266944" y="1000633"/>
                    <a:pt x="5210175" y="1057402"/>
                    <a:pt x="5140071" y="1057402"/>
                  </a:cubicBezTo>
                  <a:lnTo>
                    <a:pt x="126873" y="1057402"/>
                  </a:lnTo>
                  <a:cubicBezTo>
                    <a:pt x="56769" y="1057529"/>
                    <a:pt x="0" y="1000633"/>
                    <a:pt x="0" y="930529"/>
                  </a:cubicBezTo>
                  <a:close/>
                </a:path>
              </a:pathLst>
            </a:custGeom>
            <a:solidFill>
              <a:srgbClr val="FEF3C7"/>
            </a:solidFill>
            <a:ln w="3813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5833853" y="6794725"/>
            <a:ext cx="3912118" cy="754970"/>
            <a:chOff x="0" y="0"/>
            <a:chExt cx="5216157" cy="100662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216155" cy="1006625"/>
            </a:xfrm>
            <a:custGeom>
              <a:avLst/>
              <a:gdLst/>
              <a:ahLst/>
              <a:cxnLst/>
              <a:rect r="r" b="b" t="t" l="l"/>
              <a:pathLst>
                <a:path h="1006625" w="5216155">
                  <a:moveTo>
                    <a:pt x="0" y="0"/>
                  </a:moveTo>
                  <a:lnTo>
                    <a:pt x="5216155" y="0"/>
                  </a:lnTo>
                  <a:lnTo>
                    <a:pt x="5216155" y="1006625"/>
                  </a:lnTo>
                  <a:lnTo>
                    <a:pt x="0" y="10066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967" r="0" b="-50968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5216157" cy="10256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D97706"/>
                  </a:solidFill>
                  <a:latin typeface="Bantayog"/>
                  <a:ea typeface="Bantayog"/>
                  <a:cs typeface="Bantayog"/>
                  <a:sym typeface="Bantayog"/>
                </a:rPr>
                <a:t>EventBridge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D97706"/>
                  </a:solidFill>
                  <a:latin typeface="Bantayog"/>
                  <a:ea typeface="Bantayog"/>
                  <a:cs typeface="Bantayog"/>
                  <a:sym typeface="Bantayog"/>
                </a:rPr>
                <a:t>Alerts when HbA1c&gt;9%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D97706"/>
                  </a:solidFill>
                  <a:latin typeface="Bantayog"/>
                  <a:ea typeface="Bantayog"/>
                  <a:cs typeface="Bantayog"/>
                  <a:sym typeface="Bantayog"/>
                </a:rPr>
                <a:t>or glucose&gt;300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001440" y="6775666"/>
            <a:ext cx="3469815" cy="793099"/>
            <a:chOff x="0" y="0"/>
            <a:chExt cx="4626420" cy="105746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626356" cy="1057402"/>
            </a:xfrm>
            <a:custGeom>
              <a:avLst/>
              <a:gdLst/>
              <a:ahLst/>
              <a:cxnLst/>
              <a:rect r="r" b="b" t="t" l="l"/>
              <a:pathLst>
                <a:path h="1057402" w="4626356">
                  <a:moveTo>
                    <a:pt x="0" y="126873"/>
                  </a:moveTo>
                  <a:cubicBezTo>
                    <a:pt x="0" y="56769"/>
                    <a:pt x="56769" y="0"/>
                    <a:pt x="126873" y="0"/>
                  </a:cubicBezTo>
                  <a:lnTo>
                    <a:pt x="4499483" y="0"/>
                  </a:lnTo>
                  <a:cubicBezTo>
                    <a:pt x="4569587" y="0"/>
                    <a:pt x="4626356" y="56769"/>
                    <a:pt x="4626356" y="126873"/>
                  </a:cubicBezTo>
                  <a:lnTo>
                    <a:pt x="4626356" y="930529"/>
                  </a:lnTo>
                  <a:cubicBezTo>
                    <a:pt x="4626356" y="1000633"/>
                    <a:pt x="4569587" y="1057402"/>
                    <a:pt x="4499483" y="1057402"/>
                  </a:cubicBezTo>
                  <a:lnTo>
                    <a:pt x="126873" y="1057402"/>
                  </a:lnTo>
                  <a:cubicBezTo>
                    <a:pt x="56769" y="1057529"/>
                    <a:pt x="0" y="1000633"/>
                    <a:pt x="0" y="930529"/>
                  </a:cubicBezTo>
                  <a:close/>
                </a:path>
              </a:pathLst>
            </a:custGeom>
            <a:solidFill>
              <a:srgbClr val="FEF3C7"/>
            </a:solidFill>
            <a:ln w="3813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10020510" y="6794725"/>
            <a:ext cx="3431677" cy="754970"/>
            <a:chOff x="0" y="0"/>
            <a:chExt cx="4575569" cy="100662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575575" cy="1006625"/>
            </a:xfrm>
            <a:custGeom>
              <a:avLst/>
              <a:gdLst/>
              <a:ahLst/>
              <a:cxnLst/>
              <a:rect r="r" b="b" t="t" l="l"/>
              <a:pathLst>
                <a:path h="1006625" w="4575575">
                  <a:moveTo>
                    <a:pt x="0" y="0"/>
                  </a:moveTo>
                  <a:lnTo>
                    <a:pt x="4575575" y="0"/>
                  </a:lnTo>
                  <a:lnTo>
                    <a:pt x="4575575" y="1006625"/>
                  </a:lnTo>
                  <a:lnTo>
                    <a:pt x="0" y="10066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4575569" cy="10256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D97706"/>
                  </a:solidFill>
                  <a:latin typeface="Bantayog"/>
                  <a:ea typeface="Bantayog"/>
                  <a:cs typeface="Bantayog"/>
                  <a:sym typeface="Bantayog"/>
                </a:rPr>
                <a:t>Step Functions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D97706"/>
                  </a:solidFill>
                  <a:latin typeface="Bantayog"/>
                  <a:ea typeface="Bantayog"/>
                  <a:cs typeface="Bantayog"/>
                  <a:sym typeface="Bantayog"/>
                </a:rPr>
                <a:t>Pipeline: Meal→Lab→Risk→Plan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3707656" y="6775666"/>
            <a:ext cx="3469815" cy="793099"/>
            <a:chOff x="0" y="0"/>
            <a:chExt cx="4626420" cy="105746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626356" cy="1057402"/>
            </a:xfrm>
            <a:custGeom>
              <a:avLst/>
              <a:gdLst/>
              <a:ahLst/>
              <a:cxnLst/>
              <a:rect r="r" b="b" t="t" l="l"/>
              <a:pathLst>
                <a:path h="1057402" w="4626356">
                  <a:moveTo>
                    <a:pt x="0" y="126873"/>
                  </a:moveTo>
                  <a:cubicBezTo>
                    <a:pt x="0" y="56769"/>
                    <a:pt x="56769" y="0"/>
                    <a:pt x="126873" y="0"/>
                  </a:cubicBezTo>
                  <a:lnTo>
                    <a:pt x="4499483" y="0"/>
                  </a:lnTo>
                  <a:cubicBezTo>
                    <a:pt x="4569587" y="0"/>
                    <a:pt x="4626356" y="56769"/>
                    <a:pt x="4626356" y="126873"/>
                  </a:cubicBezTo>
                  <a:lnTo>
                    <a:pt x="4626356" y="930529"/>
                  </a:lnTo>
                  <a:cubicBezTo>
                    <a:pt x="4626356" y="1000633"/>
                    <a:pt x="4569587" y="1057402"/>
                    <a:pt x="4499483" y="1057402"/>
                  </a:cubicBezTo>
                  <a:lnTo>
                    <a:pt x="126873" y="1057402"/>
                  </a:lnTo>
                  <a:cubicBezTo>
                    <a:pt x="56769" y="1057529"/>
                    <a:pt x="0" y="1000633"/>
                    <a:pt x="0" y="930529"/>
                  </a:cubicBezTo>
                  <a:close/>
                </a:path>
              </a:pathLst>
            </a:custGeom>
            <a:solidFill>
              <a:srgbClr val="FEE2E2"/>
            </a:solidFill>
            <a:ln w="3813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13726725" y="6794725"/>
            <a:ext cx="3431677" cy="754970"/>
            <a:chOff x="0" y="0"/>
            <a:chExt cx="4575569" cy="100662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575575" cy="1006625"/>
            </a:xfrm>
            <a:custGeom>
              <a:avLst/>
              <a:gdLst/>
              <a:ahLst/>
              <a:cxnLst/>
              <a:rect r="r" b="b" t="t" l="l"/>
              <a:pathLst>
                <a:path h="1006625" w="4575575">
                  <a:moveTo>
                    <a:pt x="0" y="0"/>
                  </a:moveTo>
                  <a:lnTo>
                    <a:pt x="4575575" y="0"/>
                  </a:lnTo>
                  <a:lnTo>
                    <a:pt x="4575575" y="1006625"/>
                  </a:lnTo>
                  <a:lnTo>
                    <a:pt x="0" y="10066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4575569" cy="10256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DC2626"/>
                  </a:solidFill>
                  <a:latin typeface="Bantayog"/>
                  <a:ea typeface="Bantayog"/>
                  <a:cs typeface="Bantayog"/>
                  <a:sym typeface="Bantayog"/>
                </a:rPr>
                <a:t>CloudWatch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DC2626"/>
                  </a:solidFill>
                  <a:latin typeface="Bantayog"/>
                  <a:ea typeface="Bantayog"/>
                  <a:cs typeface="Bantayog"/>
                  <a:sym typeface="Bantayog"/>
                </a:rPr>
                <a:t>Monitor API calls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DC2626"/>
                  </a:solidFill>
                  <a:latin typeface="Bantayog"/>
                  <a:ea typeface="Bantayog"/>
                  <a:cs typeface="Bantayog"/>
                  <a:sym typeface="Bantayog"/>
                </a:rPr>
                <a:t>Latency + Errors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679190" y="7885719"/>
            <a:ext cx="16898169" cy="1936042"/>
            <a:chOff x="0" y="0"/>
            <a:chExt cx="22530892" cy="2581389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2530943" cy="2581402"/>
            </a:xfrm>
            <a:custGeom>
              <a:avLst/>
              <a:gdLst/>
              <a:ahLst/>
              <a:cxnLst/>
              <a:rect r="r" b="b" t="t" l="l"/>
              <a:pathLst>
                <a:path h="2581402" w="22530943">
                  <a:moveTo>
                    <a:pt x="0" y="103251"/>
                  </a:moveTo>
                  <a:cubicBezTo>
                    <a:pt x="0" y="46228"/>
                    <a:pt x="46228" y="0"/>
                    <a:pt x="103251" y="0"/>
                  </a:cubicBezTo>
                  <a:lnTo>
                    <a:pt x="22427692" y="0"/>
                  </a:lnTo>
                  <a:cubicBezTo>
                    <a:pt x="22484714" y="0"/>
                    <a:pt x="22530943" y="46228"/>
                    <a:pt x="22530943" y="103251"/>
                  </a:cubicBezTo>
                  <a:lnTo>
                    <a:pt x="22530943" y="2478151"/>
                  </a:lnTo>
                  <a:cubicBezTo>
                    <a:pt x="22530943" y="2535174"/>
                    <a:pt x="22484714" y="2581402"/>
                    <a:pt x="22427692" y="2581402"/>
                  </a:cubicBezTo>
                  <a:lnTo>
                    <a:pt x="103251" y="2581402"/>
                  </a:lnTo>
                  <a:cubicBezTo>
                    <a:pt x="46228" y="2581402"/>
                    <a:pt x="0" y="2535174"/>
                    <a:pt x="0" y="2478151"/>
                  </a:cubicBezTo>
                  <a:close/>
                </a:path>
              </a:pathLst>
            </a:custGeom>
            <a:solidFill>
              <a:srgbClr val="DCFCE7"/>
            </a:solidFill>
            <a:ln w="14299" cap="sq">
              <a:solidFill>
                <a:srgbClr val="16A34A"/>
              </a:solidFill>
              <a:prstDash val="solid"/>
              <a:miter/>
            </a:ln>
          </p:spPr>
        </p:sp>
      </p:grpSp>
      <p:sp>
        <p:nvSpPr>
          <p:cNvPr name="TextBox 96" id="96"/>
          <p:cNvSpPr txBox="true"/>
          <p:nvPr/>
        </p:nvSpPr>
        <p:spPr>
          <a:xfrm rot="0">
            <a:off x="960872" y="8020612"/>
            <a:ext cx="16334804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6A34A"/>
                </a:solidFill>
                <a:latin typeface="Bantayog"/>
                <a:ea typeface="Bantayog"/>
                <a:cs typeface="Bantayog"/>
                <a:sym typeface="Bantayog"/>
              </a:rPr>
              <a:t>Data Flow: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960872" y="8354254"/>
            <a:ext cx="16334804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1. Patient signs in (Cognito) → saves profile (DynamoDB) → each save logs a time-stamped health metric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2. Patient uploads lab photo → Textract reads it → Bedrock interprets values → saved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3. Patient selects data to share (checkboxes) → sends referral to Doctor (DynamoDB)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4. Doctor signs in → sees referred patients → charts render from health-logs → AI analyzes trends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5. Doctor writes notes → report sent back to patient (DynamoDB + SES)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82363"/>
            <a:chOff x="0" y="0"/>
            <a:chExt cx="24402453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09855"/>
            </a:xfrm>
            <a:custGeom>
              <a:avLst/>
              <a:gdLst/>
              <a:ahLst/>
              <a:cxnLst/>
              <a:rect r="r" b="b" t="t" l="l"/>
              <a:pathLst>
                <a:path h="10985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11804" y="274539"/>
            <a:ext cx="521618" cy="521618"/>
            <a:chOff x="0" y="0"/>
            <a:chExt cx="695490" cy="6954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5452" cy="695452"/>
            </a:xfrm>
            <a:custGeom>
              <a:avLst/>
              <a:gdLst/>
              <a:ahLst/>
              <a:cxnLst/>
              <a:rect r="r" b="b" t="t" l="l"/>
              <a:pathLst>
                <a:path h="695452" w="695452">
                  <a:moveTo>
                    <a:pt x="0" y="208661"/>
                  </a:moveTo>
                  <a:cubicBezTo>
                    <a:pt x="0" y="93472"/>
                    <a:pt x="93472" y="0"/>
                    <a:pt x="208661" y="0"/>
                  </a:cubicBezTo>
                  <a:lnTo>
                    <a:pt x="486791" y="0"/>
                  </a:lnTo>
                  <a:cubicBezTo>
                    <a:pt x="601980" y="0"/>
                    <a:pt x="695452" y="93472"/>
                    <a:pt x="695452" y="208661"/>
                  </a:cubicBezTo>
                  <a:lnTo>
                    <a:pt x="695452" y="486791"/>
                  </a:lnTo>
                  <a:cubicBezTo>
                    <a:pt x="695452" y="601980"/>
                    <a:pt x="601980" y="695452"/>
                    <a:pt x="486791" y="695452"/>
                  </a:cubicBezTo>
                  <a:lnTo>
                    <a:pt x="208661" y="695452"/>
                  </a:lnTo>
                  <a:cubicBezTo>
                    <a:pt x="93472" y="695452"/>
                    <a:pt x="0" y="602107"/>
                    <a:pt x="0" y="486791"/>
                  </a:cubicBezTo>
                  <a:close/>
                </a:path>
              </a:pathLst>
            </a:custGeom>
            <a:solidFill>
              <a:srgbClr val="ACFFC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1804" y="274539"/>
            <a:ext cx="521618" cy="521618"/>
            <a:chOff x="0" y="0"/>
            <a:chExt cx="695490" cy="6954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5487" cy="695487"/>
            </a:xfrm>
            <a:custGeom>
              <a:avLst/>
              <a:gdLst/>
              <a:ahLst/>
              <a:cxnLst/>
              <a:rect r="r" b="b" t="t" l="l"/>
              <a:pathLst>
                <a:path h="695487" w="695487">
                  <a:moveTo>
                    <a:pt x="0" y="0"/>
                  </a:moveTo>
                  <a:lnTo>
                    <a:pt x="695487" y="0"/>
                  </a:lnTo>
                  <a:lnTo>
                    <a:pt x="69548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695490" cy="743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🩺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70686" y="319916"/>
            <a:ext cx="480435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Diabetes Control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95039" y="310391"/>
            <a:ext cx="754969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Patient Tools — Detail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6333" y="1157249"/>
            <a:ext cx="1647206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What the Patient Can Do (and which AWS service powers it)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72613" y="1709699"/>
            <a:ext cx="16898169" cy="906532"/>
            <a:chOff x="0" y="0"/>
            <a:chExt cx="22530892" cy="12087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530944" cy="1208786"/>
            </a:xfrm>
            <a:custGeom>
              <a:avLst/>
              <a:gdLst/>
              <a:ahLst/>
              <a:cxnLst/>
              <a:rect r="r" b="b" t="t" l="l"/>
              <a:pathLst>
                <a:path h="1208786" w="22530944">
                  <a:moveTo>
                    <a:pt x="0" y="48387"/>
                  </a:moveTo>
                  <a:cubicBezTo>
                    <a:pt x="0" y="21590"/>
                    <a:pt x="21590" y="0"/>
                    <a:pt x="48387" y="0"/>
                  </a:cubicBezTo>
                  <a:lnTo>
                    <a:pt x="22482556" y="0"/>
                  </a:lnTo>
                  <a:cubicBezTo>
                    <a:pt x="22509226" y="0"/>
                    <a:pt x="22530944" y="21590"/>
                    <a:pt x="22530944" y="48387"/>
                  </a:cubicBezTo>
                  <a:lnTo>
                    <a:pt x="22530944" y="1160399"/>
                  </a:lnTo>
                  <a:cubicBezTo>
                    <a:pt x="22530944" y="1187069"/>
                    <a:pt x="22509353" y="1208786"/>
                    <a:pt x="22482556" y="1208786"/>
                  </a:cubicBezTo>
                  <a:lnTo>
                    <a:pt x="48387" y="1208786"/>
                  </a:lnTo>
                  <a:cubicBezTo>
                    <a:pt x="21590" y="1208659"/>
                    <a:pt x="0" y="1187069"/>
                    <a:pt x="0" y="1160399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885658" y="1756915"/>
            <a:ext cx="2882608" cy="41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6A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🥗 Meal Analyzer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5658" y="2160308"/>
            <a:ext cx="2882608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Patient types what they ate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05541" y="1862518"/>
            <a:ext cx="754969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Bedrock Agent analyzes glycemic impact, carbs, alternatives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61138" y="1862518"/>
            <a:ext cx="5627951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16A34A"/>
                </a:solidFill>
                <a:latin typeface="Bantayog"/>
                <a:ea typeface="Bantayog"/>
                <a:cs typeface="Bantayog"/>
                <a:sym typeface="Bantayog"/>
              </a:rPr>
              <a:t>→ Amazon Bedrock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72613" y="2670572"/>
            <a:ext cx="16898169" cy="906532"/>
            <a:chOff x="0" y="0"/>
            <a:chExt cx="22530892" cy="12087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530944" cy="1208786"/>
            </a:xfrm>
            <a:custGeom>
              <a:avLst/>
              <a:gdLst/>
              <a:ahLst/>
              <a:cxnLst/>
              <a:rect r="r" b="b" t="t" l="l"/>
              <a:pathLst>
                <a:path h="1208786" w="22530944">
                  <a:moveTo>
                    <a:pt x="0" y="48387"/>
                  </a:moveTo>
                  <a:cubicBezTo>
                    <a:pt x="0" y="21590"/>
                    <a:pt x="21590" y="0"/>
                    <a:pt x="48387" y="0"/>
                  </a:cubicBezTo>
                  <a:lnTo>
                    <a:pt x="22482556" y="0"/>
                  </a:lnTo>
                  <a:cubicBezTo>
                    <a:pt x="22509226" y="0"/>
                    <a:pt x="22530944" y="21590"/>
                    <a:pt x="22530944" y="48387"/>
                  </a:cubicBezTo>
                  <a:lnTo>
                    <a:pt x="22530944" y="1160399"/>
                  </a:lnTo>
                  <a:cubicBezTo>
                    <a:pt x="22530944" y="1187069"/>
                    <a:pt x="22509353" y="1208786"/>
                    <a:pt x="22482556" y="1208786"/>
                  </a:cubicBezTo>
                  <a:lnTo>
                    <a:pt x="48387" y="1208786"/>
                  </a:lnTo>
                  <a:cubicBezTo>
                    <a:pt x="21590" y="1208659"/>
                    <a:pt x="0" y="1187069"/>
                    <a:pt x="0" y="1160399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885658" y="2717778"/>
            <a:ext cx="2882608" cy="41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2563E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🧪 Lab Interpreter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5658" y="3121181"/>
            <a:ext cx="288260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Patient uploads lab photo or types values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905541" y="2823391"/>
            <a:ext cx="754969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Textract extracts values + Bedrock interprets vs ADA guidelines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61138" y="2823391"/>
            <a:ext cx="5627951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2563EB"/>
                </a:solidFill>
                <a:latin typeface="Bantayog"/>
                <a:ea typeface="Bantayog"/>
                <a:cs typeface="Bantayog"/>
                <a:sym typeface="Bantayog"/>
              </a:rPr>
              <a:t>→ Textract + Bedrock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72613" y="3631444"/>
            <a:ext cx="16898169" cy="906532"/>
            <a:chOff x="0" y="0"/>
            <a:chExt cx="22530892" cy="12087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530944" cy="1208786"/>
            </a:xfrm>
            <a:custGeom>
              <a:avLst/>
              <a:gdLst/>
              <a:ahLst/>
              <a:cxnLst/>
              <a:rect r="r" b="b" t="t" l="l"/>
              <a:pathLst>
                <a:path h="1208786" w="22530944">
                  <a:moveTo>
                    <a:pt x="0" y="48387"/>
                  </a:moveTo>
                  <a:cubicBezTo>
                    <a:pt x="0" y="21590"/>
                    <a:pt x="21590" y="0"/>
                    <a:pt x="48387" y="0"/>
                  </a:cubicBezTo>
                  <a:lnTo>
                    <a:pt x="22482556" y="0"/>
                  </a:lnTo>
                  <a:cubicBezTo>
                    <a:pt x="22509226" y="0"/>
                    <a:pt x="22530944" y="21590"/>
                    <a:pt x="22530944" y="48387"/>
                  </a:cubicBezTo>
                  <a:lnTo>
                    <a:pt x="22530944" y="1160399"/>
                  </a:lnTo>
                  <a:cubicBezTo>
                    <a:pt x="22530944" y="1187069"/>
                    <a:pt x="22509353" y="1208786"/>
                    <a:pt x="22482556" y="1208786"/>
                  </a:cubicBezTo>
                  <a:lnTo>
                    <a:pt x="48387" y="1208786"/>
                  </a:lnTo>
                  <a:cubicBezTo>
                    <a:pt x="21590" y="1208659"/>
                    <a:pt x="0" y="1187069"/>
                    <a:pt x="0" y="1160399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885658" y="3678650"/>
            <a:ext cx="2882608" cy="41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C26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⚡ Risk Predictor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85658" y="4082053"/>
            <a:ext cx="2882608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Based on meals, exercise, glucose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905541" y="3784263"/>
            <a:ext cx="754969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Bedrock flags hypo/hyper risks with immediate actions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661138" y="3784263"/>
            <a:ext cx="5627951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DC2626"/>
                </a:solidFill>
                <a:latin typeface="Bantayog"/>
                <a:ea typeface="Bantayog"/>
                <a:cs typeface="Bantayog"/>
                <a:sym typeface="Bantayog"/>
              </a:rPr>
              <a:t>→ Amazon Bedrock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72613" y="4592317"/>
            <a:ext cx="16898169" cy="906532"/>
            <a:chOff x="0" y="0"/>
            <a:chExt cx="22530892" cy="120871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530944" cy="1208786"/>
            </a:xfrm>
            <a:custGeom>
              <a:avLst/>
              <a:gdLst/>
              <a:ahLst/>
              <a:cxnLst/>
              <a:rect r="r" b="b" t="t" l="l"/>
              <a:pathLst>
                <a:path h="1208786" w="22530944">
                  <a:moveTo>
                    <a:pt x="0" y="48387"/>
                  </a:moveTo>
                  <a:cubicBezTo>
                    <a:pt x="0" y="21590"/>
                    <a:pt x="21590" y="0"/>
                    <a:pt x="48387" y="0"/>
                  </a:cubicBezTo>
                  <a:lnTo>
                    <a:pt x="22482556" y="0"/>
                  </a:lnTo>
                  <a:cubicBezTo>
                    <a:pt x="22509226" y="0"/>
                    <a:pt x="22530944" y="21590"/>
                    <a:pt x="22530944" y="48387"/>
                  </a:cubicBezTo>
                  <a:lnTo>
                    <a:pt x="22530944" y="1160399"/>
                  </a:lnTo>
                  <a:cubicBezTo>
                    <a:pt x="22530944" y="1187069"/>
                    <a:pt x="22509353" y="1208786"/>
                    <a:pt x="22482556" y="1208786"/>
                  </a:cubicBezTo>
                  <a:lnTo>
                    <a:pt x="48387" y="1208786"/>
                  </a:lnTo>
                  <a:cubicBezTo>
                    <a:pt x="21590" y="1208659"/>
                    <a:pt x="0" y="1187069"/>
                    <a:pt x="0" y="1160399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885658" y="4639523"/>
            <a:ext cx="2882608" cy="41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6A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📋 Plan Generator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85658" y="5042916"/>
            <a:ext cx="2882608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Uses full profile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905541" y="4745136"/>
            <a:ext cx="754969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Bedrock creates personalized nutrition + activity + hydration plan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661138" y="4745136"/>
            <a:ext cx="5627951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16A34A"/>
                </a:solidFill>
                <a:latin typeface="Bantayog"/>
                <a:ea typeface="Bantayog"/>
                <a:cs typeface="Bantayog"/>
                <a:sym typeface="Bantayog"/>
              </a:rPr>
              <a:t>→ Amazon Bedrock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72613" y="5553189"/>
            <a:ext cx="16898169" cy="906532"/>
            <a:chOff x="0" y="0"/>
            <a:chExt cx="22530892" cy="120871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530944" cy="1208786"/>
            </a:xfrm>
            <a:custGeom>
              <a:avLst/>
              <a:gdLst/>
              <a:ahLst/>
              <a:cxnLst/>
              <a:rect r="r" b="b" t="t" l="l"/>
              <a:pathLst>
                <a:path h="1208786" w="22530944">
                  <a:moveTo>
                    <a:pt x="0" y="48387"/>
                  </a:moveTo>
                  <a:cubicBezTo>
                    <a:pt x="0" y="21590"/>
                    <a:pt x="21590" y="0"/>
                    <a:pt x="48387" y="0"/>
                  </a:cubicBezTo>
                  <a:lnTo>
                    <a:pt x="22482556" y="0"/>
                  </a:lnTo>
                  <a:cubicBezTo>
                    <a:pt x="22509226" y="0"/>
                    <a:pt x="22530944" y="21590"/>
                    <a:pt x="22530944" y="48387"/>
                  </a:cubicBezTo>
                  <a:lnTo>
                    <a:pt x="22530944" y="1160399"/>
                  </a:lnTo>
                  <a:cubicBezTo>
                    <a:pt x="22530944" y="1187069"/>
                    <a:pt x="22509353" y="1208786"/>
                    <a:pt x="22482556" y="1208786"/>
                  </a:cubicBezTo>
                  <a:lnTo>
                    <a:pt x="48387" y="1208786"/>
                  </a:lnTo>
                  <a:cubicBezTo>
                    <a:pt x="21590" y="1208659"/>
                    <a:pt x="0" y="1187069"/>
                    <a:pt x="0" y="1160399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885658" y="5600395"/>
            <a:ext cx="2882608" cy="41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🤖 AI Coach Chat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85658" y="6003788"/>
            <a:ext cx="2882608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Natural conversation anytime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905541" y="5706008"/>
            <a:ext cx="754969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Bedrock Agent with full patient context (profile, labs, meals, history)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661138" y="5706008"/>
            <a:ext cx="5627951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7C3AED"/>
                </a:solidFill>
                <a:latin typeface="Bantayog"/>
                <a:ea typeface="Bantayog"/>
                <a:cs typeface="Bantayog"/>
                <a:sym typeface="Bantayog"/>
              </a:rPr>
              <a:t>→ Amazon Bedrock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72613" y="6514052"/>
            <a:ext cx="16898169" cy="906532"/>
            <a:chOff x="0" y="0"/>
            <a:chExt cx="22530892" cy="120871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530944" cy="1208786"/>
            </a:xfrm>
            <a:custGeom>
              <a:avLst/>
              <a:gdLst/>
              <a:ahLst/>
              <a:cxnLst/>
              <a:rect r="r" b="b" t="t" l="l"/>
              <a:pathLst>
                <a:path h="1208786" w="22530944">
                  <a:moveTo>
                    <a:pt x="0" y="48387"/>
                  </a:moveTo>
                  <a:cubicBezTo>
                    <a:pt x="0" y="21590"/>
                    <a:pt x="21590" y="0"/>
                    <a:pt x="48387" y="0"/>
                  </a:cubicBezTo>
                  <a:lnTo>
                    <a:pt x="22482556" y="0"/>
                  </a:lnTo>
                  <a:cubicBezTo>
                    <a:pt x="22509226" y="0"/>
                    <a:pt x="22530944" y="21590"/>
                    <a:pt x="22530944" y="48387"/>
                  </a:cubicBezTo>
                  <a:lnTo>
                    <a:pt x="22530944" y="1160399"/>
                  </a:lnTo>
                  <a:cubicBezTo>
                    <a:pt x="22530944" y="1187069"/>
                    <a:pt x="22509353" y="1208786"/>
                    <a:pt x="22482556" y="1208786"/>
                  </a:cubicBezTo>
                  <a:lnTo>
                    <a:pt x="48387" y="1208786"/>
                  </a:lnTo>
                  <a:cubicBezTo>
                    <a:pt x="21590" y="1208659"/>
                    <a:pt x="0" y="1187069"/>
                    <a:pt x="0" y="1160399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885658" y="6561268"/>
            <a:ext cx="2882608" cy="41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💡 Insights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85658" y="6964661"/>
            <a:ext cx="2882608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Auto-updates when profile changes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905541" y="6666871"/>
            <a:ext cx="754969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Bedrock generates health score, trends, weekly goals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661138" y="6666871"/>
            <a:ext cx="5627951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06B6D4"/>
                </a:solidFill>
                <a:latin typeface="Bantayog"/>
                <a:ea typeface="Bantayog"/>
                <a:cs typeface="Bantayog"/>
                <a:sym typeface="Bantayog"/>
              </a:rPr>
              <a:t>→ Amazon Bedrock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672613" y="7474925"/>
            <a:ext cx="16898169" cy="906532"/>
            <a:chOff x="0" y="0"/>
            <a:chExt cx="22530892" cy="120871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530944" cy="1208786"/>
            </a:xfrm>
            <a:custGeom>
              <a:avLst/>
              <a:gdLst/>
              <a:ahLst/>
              <a:cxnLst/>
              <a:rect r="r" b="b" t="t" l="l"/>
              <a:pathLst>
                <a:path h="1208786" w="22530944">
                  <a:moveTo>
                    <a:pt x="0" y="48387"/>
                  </a:moveTo>
                  <a:cubicBezTo>
                    <a:pt x="0" y="21590"/>
                    <a:pt x="21590" y="0"/>
                    <a:pt x="48387" y="0"/>
                  </a:cubicBezTo>
                  <a:lnTo>
                    <a:pt x="22482556" y="0"/>
                  </a:lnTo>
                  <a:cubicBezTo>
                    <a:pt x="22509226" y="0"/>
                    <a:pt x="22530944" y="21590"/>
                    <a:pt x="22530944" y="48387"/>
                  </a:cubicBezTo>
                  <a:lnTo>
                    <a:pt x="22530944" y="1160399"/>
                  </a:lnTo>
                  <a:cubicBezTo>
                    <a:pt x="22530944" y="1187069"/>
                    <a:pt x="22509353" y="1208786"/>
                    <a:pt x="22482556" y="1208786"/>
                  </a:cubicBezTo>
                  <a:lnTo>
                    <a:pt x="48387" y="1208786"/>
                  </a:lnTo>
                  <a:cubicBezTo>
                    <a:pt x="21590" y="1208659"/>
                    <a:pt x="0" y="1187069"/>
                    <a:pt x="0" y="1160399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50" id="50"/>
          <p:cNvSpPr txBox="true"/>
          <p:nvPr/>
        </p:nvSpPr>
        <p:spPr>
          <a:xfrm rot="0">
            <a:off x="885658" y="7522131"/>
            <a:ext cx="2882608" cy="41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B277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🔊 Text-to-Speech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85658" y="7925533"/>
            <a:ext cx="2882608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Click 🔊 on any result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905541" y="7627744"/>
            <a:ext cx="754969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Amazon Polly reads the AI response aloud (neural Joanna voice)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661138" y="7627744"/>
            <a:ext cx="5627951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DB2777"/>
                </a:solidFill>
                <a:latin typeface="Bantayog"/>
                <a:ea typeface="Bantayog"/>
                <a:cs typeface="Bantayog"/>
                <a:sym typeface="Bantayog"/>
              </a:rPr>
              <a:t>→ Amazon Polly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672613" y="8435797"/>
            <a:ext cx="16898169" cy="906532"/>
            <a:chOff x="0" y="0"/>
            <a:chExt cx="22530892" cy="120871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2530944" cy="1208786"/>
            </a:xfrm>
            <a:custGeom>
              <a:avLst/>
              <a:gdLst/>
              <a:ahLst/>
              <a:cxnLst/>
              <a:rect r="r" b="b" t="t" l="l"/>
              <a:pathLst>
                <a:path h="1208786" w="22530944">
                  <a:moveTo>
                    <a:pt x="0" y="48387"/>
                  </a:moveTo>
                  <a:cubicBezTo>
                    <a:pt x="0" y="21590"/>
                    <a:pt x="21590" y="0"/>
                    <a:pt x="48387" y="0"/>
                  </a:cubicBezTo>
                  <a:lnTo>
                    <a:pt x="22482556" y="0"/>
                  </a:lnTo>
                  <a:cubicBezTo>
                    <a:pt x="22509226" y="0"/>
                    <a:pt x="22530944" y="21590"/>
                    <a:pt x="22530944" y="48387"/>
                  </a:cubicBezTo>
                  <a:lnTo>
                    <a:pt x="22530944" y="1160399"/>
                  </a:lnTo>
                  <a:cubicBezTo>
                    <a:pt x="22530944" y="1187069"/>
                    <a:pt x="22509353" y="1208786"/>
                    <a:pt x="22482556" y="1208786"/>
                  </a:cubicBezTo>
                  <a:lnTo>
                    <a:pt x="48387" y="1208786"/>
                  </a:lnTo>
                  <a:cubicBezTo>
                    <a:pt x="21590" y="1208659"/>
                    <a:pt x="0" y="1187069"/>
                    <a:pt x="0" y="1160399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56" id="56"/>
          <p:cNvSpPr txBox="true"/>
          <p:nvPr/>
        </p:nvSpPr>
        <p:spPr>
          <a:xfrm rot="0">
            <a:off x="885658" y="8483003"/>
            <a:ext cx="2882608" cy="41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9770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📧 Email Report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85658" y="8886406"/>
            <a:ext cx="2882608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One-click send to inbox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905541" y="8588616"/>
            <a:ext cx="754969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Amazon SES sends formatted HTML report to patient's email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661138" y="8588616"/>
            <a:ext cx="5627951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D97706"/>
                </a:solidFill>
                <a:latin typeface="Bantayog"/>
                <a:ea typeface="Bantayog"/>
                <a:cs typeface="Bantayog"/>
                <a:sym typeface="Bantayog"/>
              </a:rPr>
              <a:t>→ Amazon SES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672613" y="9292704"/>
            <a:ext cx="16898169" cy="906532"/>
            <a:chOff x="0" y="0"/>
            <a:chExt cx="22530892" cy="120871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530944" cy="1208786"/>
            </a:xfrm>
            <a:custGeom>
              <a:avLst/>
              <a:gdLst/>
              <a:ahLst/>
              <a:cxnLst/>
              <a:rect r="r" b="b" t="t" l="l"/>
              <a:pathLst>
                <a:path h="1208786" w="22530944">
                  <a:moveTo>
                    <a:pt x="0" y="48387"/>
                  </a:moveTo>
                  <a:cubicBezTo>
                    <a:pt x="0" y="21590"/>
                    <a:pt x="21590" y="0"/>
                    <a:pt x="48387" y="0"/>
                  </a:cubicBezTo>
                  <a:lnTo>
                    <a:pt x="22482556" y="0"/>
                  </a:lnTo>
                  <a:cubicBezTo>
                    <a:pt x="22509226" y="0"/>
                    <a:pt x="22530944" y="21590"/>
                    <a:pt x="22530944" y="48387"/>
                  </a:cubicBezTo>
                  <a:lnTo>
                    <a:pt x="22530944" y="1160399"/>
                  </a:lnTo>
                  <a:cubicBezTo>
                    <a:pt x="22530944" y="1187069"/>
                    <a:pt x="22509353" y="1208786"/>
                    <a:pt x="22482556" y="1208786"/>
                  </a:cubicBezTo>
                  <a:lnTo>
                    <a:pt x="48387" y="1208786"/>
                  </a:lnTo>
                  <a:cubicBezTo>
                    <a:pt x="21590" y="1208659"/>
                    <a:pt x="0" y="1187069"/>
                    <a:pt x="0" y="1160399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62" id="62"/>
          <p:cNvSpPr txBox="true"/>
          <p:nvPr/>
        </p:nvSpPr>
        <p:spPr>
          <a:xfrm rot="0">
            <a:off x="885658" y="9339910"/>
            <a:ext cx="3431677" cy="41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6A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📝 Send Report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885658" y="9743313"/>
            <a:ext cx="343167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Patient </a:t>
            </a: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writes notes → sends to Doctor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905541" y="9428521"/>
            <a:ext cx="754969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Stored in DynamoDB referrals table, patient sees it in their app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798403" y="9428521"/>
            <a:ext cx="549068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16A34A"/>
                </a:solidFill>
                <a:latin typeface="Bantayog"/>
                <a:ea typeface="Bantayog"/>
                <a:cs typeface="Bantayog"/>
                <a:sym typeface="Bantayog"/>
              </a:rPr>
              <a:t>→ DynamoDB + SES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82363"/>
            <a:chOff x="0" y="0"/>
            <a:chExt cx="24402453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09855"/>
            </a:xfrm>
            <a:custGeom>
              <a:avLst/>
              <a:gdLst/>
              <a:ahLst/>
              <a:cxnLst/>
              <a:rect r="r" b="b" t="t" l="l"/>
              <a:pathLst>
                <a:path h="10985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11804" y="274539"/>
            <a:ext cx="521618" cy="521618"/>
            <a:chOff x="0" y="0"/>
            <a:chExt cx="695490" cy="6954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5452" cy="695452"/>
            </a:xfrm>
            <a:custGeom>
              <a:avLst/>
              <a:gdLst/>
              <a:ahLst/>
              <a:cxnLst/>
              <a:rect r="r" b="b" t="t" l="l"/>
              <a:pathLst>
                <a:path h="695452" w="695452">
                  <a:moveTo>
                    <a:pt x="0" y="208661"/>
                  </a:moveTo>
                  <a:cubicBezTo>
                    <a:pt x="0" y="93472"/>
                    <a:pt x="93472" y="0"/>
                    <a:pt x="208661" y="0"/>
                  </a:cubicBezTo>
                  <a:lnTo>
                    <a:pt x="486791" y="0"/>
                  </a:lnTo>
                  <a:cubicBezTo>
                    <a:pt x="601980" y="0"/>
                    <a:pt x="695452" y="93472"/>
                    <a:pt x="695452" y="208661"/>
                  </a:cubicBezTo>
                  <a:lnTo>
                    <a:pt x="695452" y="486791"/>
                  </a:lnTo>
                  <a:cubicBezTo>
                    <a:pt x="695452" y="601980"/>
                    <a:pt x="601980" y="695452"/>
                    <a:pt x="486791" y="695452"/>
                  </a:cubicBezTo>
                  <a:lnTo>
                    <a:pt x="208661" y="695452"/>
                  </a:lnTo>
                  <a:cubicBezTo>
                    <a:pt x="93472" y="695452"/>
                    <a:pt x="0" y="602107"/>
                    <a:pt x="0" y="486791"/>
                  </a:cubicBezTo>
                  <a:close/>
                </a:path>
              </a:pathLst>
            </a:custGeom>
            <a:solidFill>
              <a:srgbClr val="ACFFC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1804" y="274539"/>
            <a:ext cx="521618" cy="521618"/>
            <a:chOff x="0" y="0"/>
            <a:chExt cx="695490" cy="6954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5487" cy="695487"/>
            </a:xfrm>
            <a:custGeom>
              <a:avLst/>
              <a:gdLst/>
              <a:ahLst/>
              <a:cxnLst/>
              <a:rect r="r" b="b" t="t" l="l"/>
              <a:pathLst>
                <a:path h="695487" w="695487">
                  <a:moveTo>
                    <a:pt x="0" y="0"/>
                  </a:moveTo>
                  <a:lnTo>
                    <a:pt x="695487" y="0"/>
                  </a:lnTo>
                  <a:lnTo>
                    <a:pt x="69548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695490" cy="743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🩺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70686" y="319916"/>
            <a:ext cx="480435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Diabetes Control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95039" y="310391"/>
            <a:ext cx="754969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Doctor Dashboard — Detail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6333" y="1157249"/>
            <a:ext cx="1647206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What the Doctor Sees (and which AWS service powers it)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79190" y="2051856"/>
            <a:ext cx="16898169" cy="906532"/>
            <a:chOff x="0" y="0"/>
            <a:chExt cx="22530892" cy="12087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530944" cy="1208786"/>
            </a:xfrm>
            <a:custGeom>
              <a:avLst/>
              <a:gdLst/>
              <a:ahLst/>
              <a:cxnLst/>
              <a:rect r="r" b="b" t="t" l="l"/>
              <a:pathLst>
                <a:path h="1208786" w="22530944">
                  <a:moveTo>
                    <a:pt x="0" y="48387"/>
                  </a:moveTo>
                  <a:cubicBezTo>
                    <a:pt x="0" y="21590"/>
                    <a:pt x="21590" y="0"/>
                    <a:pt x="48387" y="0"/>
                  </a:cubicBezTo>
                  <a:lnTo>
                    <a:pt x="22482556" y="0"/>
                  </a:lnTo>
                  <a:cubicBezTo>
                    <a:pt x="22509226" y="0"/>
                    <a:pt x="22530944" y="21590"/>
                    <a:pt x="22530944" y="48387"/>
                  </a:cubicBezTo>
                  <a:lnTo>
                    <a:pt x="22530944" y="1160399"/>
                  </a:lnTo>
                  <a:cubicBezTo>
                    <a:pt x="22530944" y="1187069"/>
                    <a:pt x="22509353" y="1208786"/>
                    <a:pt x="22482556" y="1208786"/>
                  </a:cubicBezTo>
                  <a:lnTo>
                    <a:pt x="48387" y="1208786"/>
                  </a:lnTo>
                  <a:cubicBezTo>
                    <a:pt x="21590" y="1208659"/>
                    <a:pt x="0" y="1187069"/>
                    <a:pt x="0" y="1160399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892235" y="2099072"/>
            <a:ext cx="3431677" cy="41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2563E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👥 Patient List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2235" y="2502465"/>
            <a:ext cx="343167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Only patients who sent them data (deduplicated)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92549" y="2204676"/>
            <a:ext cx="754969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DynamoDB query on referrals table (keyed by doctor email)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79519" y="2204676"/>
            <a:ext cx="549068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2563EB"/>
                </a:solidFill>
                <a:latin typeface="Bantayog"/>
                <a:ea typeface="Bantayog"/>
                <a:cs typeface="Bantayog"/>
                <a:sym typeface="Bantayog"/>
              </a:rPr>
              <a:t>→ DynamoDB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79190" y="3012729"/>
            <a:ext cx="16898169" cy="906532"/>
            <a:chOff x="0" y="0"/>
            <a:chExt cx="22530892" cy="12087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530944" cy="1208786"/>
            </a:xfrm>
            <a:custGeom>
              <a:avLst/>
              <a:gdLst/>
              <a:ahLst/>
              <a:cxnLst/>
              <a:rect r="r" b="b" t="t" l="l"/>
              <a:pathLst>
                <a:path h="1208786" w="22530944">
                  <a:moveTo>
                    <a:pt x="0" y="48387"/>
                  </a:moveTo>
                  <a:cubicBezTo>
                    <a:pt x="0" y="21590"/>
                    <a:pt x="21590" y="0"/>
                    <a:pt x="48387" y="0"/>
                  </a:cubicBezTo>
                  <a:lnTo>
                    <a:pt x="22482556" y="0"/>
                  </a:lnTo>
                  <a:cubicBezTo>
                    <a:pt x="22509226" y="0"/>
                    <a:pt x="22530944" y="21590"/>
                    <a:pt x="22530944" y="48387"/>
                  </a:cubicBezTo>
                  <a:lnTo>
                    <a:pt x="22530944" y="1160399"/>
                  </a:lnTo>
                  <a:cubicBezTo>
                    <a:pt x="22530944" y="1187069"/>
                    <a:pt x="22509353" y="1208786"/>
                    <a:pt x="22482556" y="1208786"/>
                  </a:cubicBezTo>
                  <a:lnTo>
                    <a:pt x="48387" y="1208786"/>
                  </a:lnTo>
                  <a:cubicBezTo>
                    <a:pt x="21590" y="1208659"/>
                    <a:pt x="0" y="1187069"/>
                    <a:pt x="0" y="1160399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892235" y="3059935"/>
            <a:ext cx="3431677" cy="41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6A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📊 Health Charts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92235" y="3463338"/>
            <a:ext cx="343167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7 charts: HbA1c, glucose, lipids, kidney, weight, BP, radar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392549" y="3165548"/>
            <a:ext cx="754969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Chart.js reads from DynamoDB health-logs (real submission dates)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79519" y="3165548"/>
            <a:ext cx="549068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16A34A"/>
                </a:solidFill>
                <a:latin typeface="Bantayog"/>
                <a:ea typeface="Bantayog"/>
                <a:cs typeface="Bantayog"/>
                <a:sym typeface="Bantayog"/>
              </a:rPr>
              <a:t>→ DynamoDB + Charts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79190" y="3973601"/>
            <a:ext cx="16898169" cy="906532"/>
            <a:chOff x="0" y="0"/>
            <a:chExt cx="22530892" cy="12087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530944" cy="1208786"/>
            </a:xfrm>
            <a:custGeom>
              <a:avLst/>
              <a:gdLst/>
              <a:ahLst/>
              <a:cxnLst/>
              <a:rect r="r" b="b" t="t" l="l"/>
              <a:pathLst>
                <a:path h="1208786" w="22530944">
                  <a:moveTo>
                    <a:pt x="0" y="48387"/>
                  </a:moveTo>
                  <a:cubicBezTo>
                    <a:pt x="0" y="21590"/>
                    <a:pt x="21590" y="0"/>
                    <a:pt x="48387" y="0"/>
                  </a:cubicBezTo>
                  <a:lnTo>
                    <a:pt x="22482556" y="0"/>
                  </a:lnTo>
                  <a:cubicBezTo>
                    <a:pt x="22509226" y="0"/>
                    <a:pt x="22530944" y="21590"/>
                    <a:pt x="22530944" y="48387"/>
                  </a:cubicBezTo>
                  <a:lnTo>
                    <a:pt x="22530944" y="1160399"/>
                  </a:lnTo>
                  <a:cubicBezTo>
                    <a:pt x="22530944" y="1187069"/>
                    <a:pt x="22509353" y="1208786"/>
                    <a:pt x="22482556" y="1208786"/>
                  </a:cubicBezTo>
                  <a:lnTo>
                    <a:pt x="48387" y="1208786"/>
                  </a:lnTo>
                  <a:cubicBezTo>
                    <a:pt x="21590" y="1208659"/>
                    <a:pt x="0" y="1187069"/>
                    <a:pt x="0" y="1160399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892235" y="4020807"/>
            <a:ext cx="3431677" cy="41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9770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🎯 Risk Gauges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92235" y="4424210"/>
            <a:ext cx="343167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4 gauges: HbA1c, BP, Kidney, Cardio risk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392549" y="4126421"/>
            <a:ext cx="754969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Real-time from patient's latest profile values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079519" y="4126421"/>
            <a:ext cx="549068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D97706"/>
                </a:solidFill>
                <a:latin typeface="Bantayog"/>
                <a:ea typeface="Bantayog"/>
                <a:cs typeface="Bantayog"/>
                <a:sym typeface="Bantayog"/>
              </a:rPr>
              <a:t>→ DynamoDB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79190" y="4934474"/>
            <a:ext cx="16898169" cy="906532"/>
            <a:chOff x="0" y="0"/>
            <a:chExt cx="22530892" cy="120871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530944" cy="1208786"/>
            </a:xfrm>
            <a:custGeom>
              <a:avLst/>
              <a:gdLst/>
              <a:ahLst/>
              <a:cxnLst/>
              <a:rect r="r" b="b" t="t" l="l"/>
              <a:pathLst>
                <a:path h="1208786" w="22530944">
                  <a:moveTo>
                    <a:pt x="0" y="48387"/>
                  </a:moveTo>
                  <a:cubicBezTo>
                    <a:pt x="0" y="21590"/>
                    <a:pt x="21590" y="0"/>
                    <a:pt x="48387" y="0"/>
                  </a:cubicBezTo>
                  <a:lnTo>
                    <a:pt x="22482556" y="0"/>
                  </a:lnTo>
                  <a:cubicBezTo>
                    <a:pt x="22509226" y="0"/>
                    <a:pt x="22530944" y="21590"/>
                    <a:pt x="22530944" y="48387"/>
                  </a:cubicBezTo>
                  <a:lnTo>
                    <a:pt x="22530944" y="1160399"/>
                  </a:lnTo>
                  <a:cubicBezTo>
                    <a:pt x="22530944" y="1187069"/>
                    <a:pt x="22509353" y="1208786"/>
                    <a:pt x="22482556" y="1208786"/>
                  </a:cubicBezTo>
                  <a:lnTo>
                    <a:pt x="48387" y="1208786"/>
                  </a:lnTo>
                  <a:cubicBezTo>
                    <a:pt x="21590" y="1208659"/>
                    <a:pt x="0" y="1187069"/>
                    <a:pt x="0" y="1160399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892235" y="4981680"/>
            <a:ext cx="3431677" cy="41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🧪 Lab Image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92235" y="5385073"/>
            <a:ext cx="343167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Full lab photo uploaded by patient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392549" y="5087293"/>
            <a:ext cx="754969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Stored as base64 in DynamoDB profile, click-to-zoom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079519" y="5087293"/>
            <a:ext cx="549068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7C3AED"/>
                </a:solidFill>
                <a:latin typeface="Bantayog"/>
                <a:ea typeface="Bantayog"/>
                <a:cs typeface="Bantayog"/>
                <a:sym typeface="Bantayog"/>
              </a:rPr>
              <a:t>→ DynamoDB + S3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79190" y="5895346"/>
            <a:ext cx="16898169" cy="906532"/>
            <a:chOff x="0" y="0"/>
            <a:chExt cx="22530892" cy="120871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530944" cy="1208786"/>
            </a:xfrm>
            <a:custGeom>
              <a:avLst/>
              <a:gdLst/>
              <a:ahLst/>
              <a:cxnLst/>
              <a:rect r="r" b="b" t="t" l="l"/>
              <a:pathLst>
                <a:path h="1208786" w="22530944">
                  <a:moveTo>
                    <a:pt x="0" y="48387"/>
                  </a:moveTo>
                  <a:cubicBezTo>
                    <a:pt x="0" y="21590"/>
                    <a:pt x="21590" y="0"/>
                    <a:pt x="48387" y="0"/>
                  </a:cubicBezTo>
                  <a:lnTo>
                    <a:pt x="22482556" y="0"/>
                  </a:lnTo>
                  <a:cubicBezTo>
                    <a:pt x="22509226" y="0"/>
                    <a:pt x="22530944" y="21590"/>
                    <a:pt x="22530944" y="48387"/>
                  </a:cubicBezTo>
                  <a:lnTo>
                    <a:pt x="22530944" y="1160399"/>
                  </a:lnTo>
                  <a:cubicBezTo>
                    <a:pt x="22530944" y="1187069"/>
                    <a:pt x="22509353" y="1208786"/>
                    <a:pt x="22482556" y="1208786"/>
                  </a:cubicBezTo>
                  <a:lnTo>
                    <a:pt x="48387" y="1208786"/>
                  </a:lnTo>
                  <a:cubicBezTo>
                    <a:pt x="21590" y="1208659"/>
                    <a:pt x="0" y="1187069"/>
                    <a:pt x="0" y="1160399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892235" y="5942552"/>
            <a:ext cx="3431677" cy="41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EA580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🧠 AI Chart Insights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92235" y="6345946"/>
            <a:ext cx="343167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Click 'Analyze' → AI interprets trends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392549" y="6048165"/>
            <a:ext cx="754969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Bedrock reads patient data + detects discrepancies profile vs labs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079519" y="6048165"/>
            <a:ext cx="549068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EA580C"/>
                </a:solidFill>
                <a:latin typeface="Bantayog"/>
                <a:ea typeface="Bantayog"/>
                <a:cs typeface="Bantayog"/>
                <a:sym typeface="Bantayog"/>
              </a:rPr>
              <a:t>→ Amazon Bedrock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79190" y="6856209"/>
            <a:ext cx="16898169" cy="906532"/>
            <a:chOff x="0" y="0"/>
            <a:chExt cx="22530892" cy="120871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530944" cy="1208786"/>
            </a:xfrm>
            <a:custGeom>
              <a:avLst/>
              <a:gdLst/>
              <a:ahLst/>
              <a:cxnLst/>
              <a:rect r="r" b="b" t="t" l="l"/>
              <a:pathLst>
                <a:path h="1208786" w="22530944">
                  <a:moveTo>
                    <a:pt x="0" y="48387"/>
                  </a:moveTo>
                  <a:cubicBezTo>
                    <a:pt x="0" y="21590"/>
                    <a:pt x="21590" y="0"/>
                    <a:pt x="48387" y="0"/>
                  </a:cubicBezTo>
                  <a:lnTo>
                    <a:pt x="22482556" y="0"/>
                  </a:lnTo>
                  <a:cubicBezTo>
                    <a:pt x="22509226" y="0"/>
                    <a:pt x="22530944" y="21590"/>
                    <a:pt x="22530944" y="48387"/>
                  </a:cubicBezTo>
                  <a:lnTo>
                    <a:pt x="22530944" y="1160399"/>
                  </a:lnTo>
                  <a:cubicBezTo>
                    <a:pt x="22530944" y="1187069"/>
                    <a:pt x="22509353" y="1208786"/>
                    <a:pt x="22482556" y="1208786"/>
                  </a:cubicBezTo>
                  <a:lnTo>
                    <a:pt x="48387" y="1208786"/>
                  </a:lnTo>
                  <a:cubicBezTo>
                    <a:pt x="21590" y="1208659"/>
                    <a:pt x="0" y="1187069"/>
                    <a:pt x="0" y="1160399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892235" y="6903425"/>
            <a:ext cx="3431677" cy="41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🔮 Predictive Forecast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92235" y="7306818"/>
            <a:ext cx="343167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30/60/90 day predictions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392549" y="7009028"/>
            <a:ext cx="754969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Bedrock generates projected HbA1c, glucose, risk trajectories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079519" y="7009028"/>
            <a:ext cx="549068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06B6D4"/>
                </a:solidFill>
                <a:latin typeface="Bantayog"/>
                <a:ea typeface="Bantayog"/>
                <a:cs typeface="Bantayog"/>
                <a:sym typeface="Bantayog"/>
              </a:rPr>
              <a:t>→ Amazon Bedrock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679190" y="7817082"/>
            <a:ext cx="16898169" cy="906532"/>
            <a:chOff x="0" y="0"/>
            <a:chExt cx="22530892" cy="120871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530944" cy="1208786"/>
            </a:xfrm>
            <a:custGeom>
              <a:avLst/>
              <a:gdLst/>
              <a:ahLst/>
              <a:cxnLst/>
              <a:rect r="r" b="b" t="t" l="l"/>
              <a:pathLst>
                <a:path h="1208786" w="22530944">
                  <a:moveTo>
                    <a:pt x="0" y="48387"/>
                  </a:moveTo>
                  <a:cubicBezTo>
                    <a:pt x="0" y="21590"/>
                    <a:pt x="21590" y="0"/>
                    <a:pt x="48387" y="0"/>
                  </a:cubicBezTo>
                  <a:lnTo>
                    <a:pt x="22482556" y="0"/>
                  </a:lnTo>
                  <a:cubicBezTo>
                    <a:pt x="22509226" y="0"/>
                    <a:pt x="22530944" y="21590"/>
                    <a:pt x="22530944" y="48387"/>
                  </a:cubicBezTo>
                  <a:lnTo>
                    <a:pt x="22530944" y="1160399"/>
                  </a:lnTo>
                  <a:cubicBezTo>
                    <a:pt x="22530944" y="1187069"/>
                    <a:pt x="22509353" y="1208786"/>
                    <a:pt x="22482556" y="1208786"/>
                  </a:cubicBezTo>
                  <a:lnTo>
                    <a:pt x="48387" y="1208786"/>
                  </a:lnTo>
                  <a:cubicBezTo>
                    <a:pt x="21590" y="1208659"/>
                    <a:pt x="0" y="1187069"/>
                    <a:pt x="0" y="1160399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50" id="50"/>
          <p:cNvSpPr txBox="true"/>
          <p:nvPr/>
        </p:nvSpPr>
        <p:spPr>
          <a:xfrm rot="0">
            <a:off x="892235" y="7864288"/>
            <a:ext cx="3431677" cy="41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C26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🚨 Threshold Alerts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92235" y="8267690"/>
            <a:ext cx="343167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Auto-fires when metrics cross limits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392549" y="7969901"/>
            <a:ext cx="754969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EventBridge rule triggers on HbA1c&gt;9, Glucose&gt;300, LDL&gt;190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079519" y="7969901"/>
            <a:ext cx="549068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DC2626"/>
                </a:solidFill>
                <a:latin typeface="Bantayog"/>
                <a:ea typeface="Bantayog"/>
                <a:cs typeface="Bantayog"/>
                <a:sym typeface="Bantayog"/>
              </a:rPr>
              <a:t>→ EventBridge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679190" y="8777954"/>
            <a:ext cx="16898169" cy="906532"/>
            <a:chOff x="0" y="0"/>
            <a:chExt cx="22530892" cy="120871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2530944" cy="1208786"/>
            </a:xfrm>
            <a:custGeom>
              <a:avLst/>
              <a:gdLst/>
              <a:ahLst/>
              <a:cxnLst/>
              <a:rect r="r" b="b" t="t" l="l"/>
              <a:pathLst>
                <a:path h="1208786" w="22530944">
                  <a:moveTo>
                    <a:pt x="0" y="48387"/>
                  </a:moveTo>
                  <a:cubicBezTo>
                    <a:pt x="0" y="21590"/>
                    <a:pt x="21590" y="0"/>
                    <a:pt x="48387" y="0"/>
                  </a:cubicBezTo>
                  <a:lnTo>
                    <a:pt x="22482556" y="0"/>
                  </a:lnTo>
                  <a:cubicBezTo>
                    <a:pt x="22509226" y="0"/>
                    <a:pt x="22530944" y="21590"/>
                    <a:pt x="22530944" y="48387"/>
                  </a:cubicBezTo>
                  <a:lnTo>
                    <a:pt x="22530944" y="1160399"/>
                  </a:lnTo>
                  <a:cubicBezTo>
                    <a:pt x="22530944" y="1187069"/>
                    <a:pt x="22509353" y="1208786"/>
                    <a:pt x="22482556" y="1208786"/>
                  </a:cubicBezTo>
                  <a:lnTo>
                    <a:pt x="48387" y="1208786"/>
                  </a:lnTo>
                  <a:cubicBezTo>
                    <a:pt x="21590" y="1208659"/>
                    <a:pt x="0" y="1187069"/>
                    <a:pt x="0" y="1160399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56" id="56"/>
          <p:cNvSpPr txBox="true"/>
          <p:nvPr/>
        </p:nvSpPr>
        <p:spPr>
          <a:xfrm rot="0">
            <a:off x="892235" y="8825160"/>
            <a:ext cx="3431677" cy="41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6A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📝 Send Report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92235" y="9228563"/>
            <a:ext cx="343167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Doctor writes notes → sends to patient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392549" y="8930773"/>
            <a:ext cx="754969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Stored in DynamoDB referrals table, patient sees it in their app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079519" y="8930773"/>
            <a:ext cx="549068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16A34A"/>
                </a:solidFill>
                <a:latin typeface="Bantayog"/>
                <a:ea typeface="Bantayog"/>
                <a:cs typeface="Bantayog"/>
                <a:sym typeface="Bantayog"/>
              </a:rPr>
              <a:t>→ DynamoDB + SES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82363"/>
            <a:chOff x="0" y="0"/>
            <a:chExt cx="24402453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09855"/>
            </a:xfrm>
            <a:custGeom>
              <a:avLst/>
              <a:gdLst/>
              <a:ahLst/>
              <a:cxnLst/>
              <a:rect r="r" b="b" t="t" l="l"/>
              <a:pathLst>
                <a:path h="10985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11804" y="274539"/>
            <a:ext cx="521618" cy="521618"/>
            <a:chOff x="0" y="0"/>
            <a:chExt cx="695490" cy="6954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5452" cy="695452"/>
            </a:xfrm>
            <a:custGeom>
              <a:avLst/>
              <a:gdLst/>
              <a:ahLst/>
              <a:cxnLst/>
              <a:rect r="r" b="b" t="t" l="l"/>
              <a:pathLst>
                <a:path h="695452" w="695452">
                  <a:moveTo>
                    <a:pt x="0" y="208661"/>
                  </a:moveTo>
                  <a:cubicBezTo>
                    <a:pt x="0" y="93472"/>
                    <a:pt x="93472" y="0"/>
                    <a:pt x="208661" y="0"/>
                  </a:cubicBezTo>
                  <a:lnTo>
                    <a:pt x="486791" y="0"/>
                  </a:lnTo>
                  <a:cubicBezTo>
                    <a:pt x="601980" y="0"/>
                    <a:pt x="695452" y="93472"/>
                    <a:pt x="695452" y="208661"/>
                  </a:cubicBezTo>
                  <a:lnTo>
                    <a:pt x="695452" y="486791"/>
                  </a:lnTo>
                  <a:cubicBezTo>
                    <a:pt x="695452" y="601980"/>
                    <a:pt x="601980" y="695452"/>
                    <a:pt x="486791" y="695452"/>
                  </a:cubicBezTo>
                  <a:lnTo>
                    <a:pt x="208661" y="695452"/>
                  </a:lnTo>
                  <a:cubicBezTo>
                    <a:pt x="93472" y="695452"/>
                    <a:pt x="0" y="602107"/>
                    <a:pt x="0" y="486791"/>
                  </a:cubicBezTo>
                  <a:close/>
                </a:path>
              </a:pathLst>
            </a:custGeom>
            <a:solidFill>
              <a:srgbClr val="ACFFC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1804" y="274539"/>
            <a:ext cx="521618" cy="521618"/>
            <a:chOff x="0" y="0"/>
            <a:chExt cx="695490" cy="6954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5487" cy="695487"/>
            </a:xfrm>
            <a:custGeom>
              <a:avLst/>
              <a:gdLst/>
              <a:ahLst/>
              <a:cxnLst/>
              <a:rect r="r" b="b" t="t" l="l"/>
              <a:pathLst>
                <a:path h="695487" w="695487">
                  <a:moveTo>
                    <a:pt x="0" y="0"/>
                  </a:moveTo>
                  <a:lnTo>
                    <a:pt x="695487" y="0"/>
                  </a:lnTo>
                  <a:lnTo>
                    <a:pt x="69548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695490" cy="743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🩺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70686" y="319916"/>
            <a:ext cx="480435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Diabetes Control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95039" y="310391"/>
            <a:ext cx="754969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Why AI — Not Just a Form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1683" y="9818694"/>
            <a:ext cx="1688387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16A34A"/>
                </a:solidFill>
                <a:latin typeface="Bantayog"/>
                <a:ea typeface="Bantayog"/>
                <a:cs typeface="Bantayog"/>
                <a:sym typeface="Bantayog"/>
              </a:rPr>
              <a:t>Key tech: Amazon Bedrock (Claude 3 Haiku) · Amazon Textract (OCR) · Comprehend Medical (NLP) · Polly (voice)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8948" y="1024757"/>
            <a:ext cx="5417344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Regular App vs Our AI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8948" y="1711090"/>
            <a:ext cx="1647206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6A34A"/>
                </a:solidFill>
                <a:latin typeface="Bantayog"/>
                <a:ea typeface="Bantayog"/>
                <a:cs typeface="Bantayog"/>
                <a:sym typeface="Bantayog"/>
              </a:rPr>
              <a:t>A form collects data. Our AI understands it.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8948" y="2437486"/>
            <a:ext cx="8236039" cy="528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DC26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❌  Without AI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066790" y="2437486"/>
            <a:ext cx="8236039" cy="528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6A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✅  With Our AI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11804" y="3164300"/>
            <a:ext cx="8387601" cy="1181071"/>
            <a:chOff x="0" y="0"/>
            <a:chExt cx="11183468" cy="15747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183493" cy="1574800"/>
            </a:xfrm>
            <a:custGeom>
              <a:avLst/>
              <a:gdLst/>
              <a:ahLst/>
              <a:cxnLst/>
              <a:rect r="r" b="b" t="t" l="l"/>
              <a:pathLst>
                <a:path h="1574800" w="11183493">
                  <a:moveTo>
                    <a:pt x="0" y="62992"/>
                  </a:moveTo>
                  <a:cubicBezTo>
                    <a:pt x="0" y="28194"/>
                    <a:pt x="28194" y="0"/>
                    <a:pt x="62992" y="0"/>
                  </a:cubicBezTo>
                  <a:lnTo>
                    <a:pt x="11120501" y="0"/>
                  </a:lnTo>
                  <a:cubicBezTo>
                    <a:pt x="11155299" y="0"/>
                    <a:pt x="11183493" y="28194"/>
                    <a:pt x="11183493" y="62992"/>
                  </a:cubicBezTo>
                  <a:lnTo>
                    <a:pt x="11183493" y="1511808"/>
                  </a:lnTo>
                  <a:cubicBezTo>
                    <a:pt x="11183493" y="1546606"/>
                    <a:pt x="11155299" y="1574800"/>
                    <a:pt x="11120501" y="1574800"/>
                  </a:cubicBezTo>
                  <a:lnTo>
                    <a:pt x="62992" y="1574800"/>
                  </a:lnTo>
                  <a:cubicBezTo>
                    <a:pt x="28194" y="1574800"/>
                    <a:pt x="0" y="1546606"/>
                    <a:pt x="0" y="1511808"/>
                  </a:cubicBezTo>
                  <a:close/>
                </a:path>
              </a:pathLst>
            </a:custGeom>
            <a:solidFill>
              <a:srgbClr val="FEE2E2"/>
            </a:solidFill>
            <a:ln w="14299" cap="sq">
              <a:solidFill>
                <a:srgbClr val="DC2626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693487" y="3299184"/>
            <a:ext cx="782423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Patient uploads lab photo</a:t>
            </a:r>
          </a:p>
          <a:p>
            <a:pPr algn="l">
              <a:lnSpc>
                <a:spcPts val="2401"/>
              </a:lnSpc>
            </a:pPr>
            <a:r>
              <a:rPr lang="en-US" sz="20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→ Must type values manually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059637" y="3164300"/>
            <a:ext cx="8387601" cy="1181071"/>
            <a:chOff x="0" y="0"/>
            <a:chExt cx="11183468" cy="15747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183493" cy="1574800"/>
            </a:xfrm>
            <a:custGeom>
              <a:avLst/>
              <a:gdLst/>
              <a:ahLst/>
              <a:cxnLst/>
              <a:rect r="r" b="b" t="t" l="l"/>
              <a:pathLst>
                <a:path h="1574800" w="11183493">
                  <a:moveTo>
                    <a:pt x="0" y="62992"/>
                  </a:moveTo>
                  <a:cubicBezTo>
                    <a:pt x="0" y="28194"/>
                    <a:pt x="28194" y="0"/>
                    <a:pt x="62992" y="0"/>
                  </a:cubicBezTo>
                  <a:lnTo>
                    <a:pt x="11120501" y="0"/>
                  </a:lnTo>
                  <a:cubicBezTo>
                    <a:pt x="11155299" y="0"/>
                    <a:pt x="11183493" y="28194"/>
                    <a:pt x="11183493" y="62992"/>
                  </a:cubicBezTo>
                  <a:lnTo>
                    <a:pt x="11183493" y="1511808"/>
                  </a:lnTo>
                  <a:cubicBezTo>
                    <a:pt x="11183493" y="1546606"/>
                    <a:pt x="11155299" y="1574800"/>
                    <a:pt x="11120501" y="1574800"/>
                  </a:cubicBezTo>
                  <a:lnTo>
                    <a:pt x="62992" y="1574800"/>
                  </a:lnTo>
                  <a:cubicBezTo>
                    <a:pt x="28194" y="1574800"/>
                    <a:pt x="0" y="1546606"/>
                    <a:pt x="0" y="1511808"/>
                  </a:cubicBezTo>
                  <a:close/>
                </a:path>
              </a:pathLst>
            </a:custGeom>
            <a:solidFill>
              <a:srgbClr val="DCFCE7"/>
            </a:solidFill>
            <a:ln w="14299" cap="sq">
              <a:solidFill>
                <a:srgbClr val="16A34A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341320" y="3299184"/>
            <a:ext cx="782423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AI reads the photo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→ Extracts all values instantly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11804" y="4468330"/>
            <a:ext cx="8387601" cy="1181071"/>
            <a:chOff x="0" y="0"/>
            <a:chExt cx="11183468" cy="15747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183493" cy="1574800"/>
            </a:xfrm>
            <a:custGeom>
              <a:avLst/>
              <a:gdLst/>
              <a:ahLst/>
              <a:cxnLst/>
              <a:rect r="r" b="b" t="t" l="l"/>
              <a:pathLst>
                <a:path h="1574800" w="11183493">
                  <a:moveTo>
                    <a:pt x="0" y="62992"/>
                  </a:moveTo>
                  <a:cubicBezTo>
                    <a:pt x="0" y="28194"/>
                    <a:pt x="28194" y="0"/>
                    <a:pt x="62992" y="0"/>
                  </a:cubicBezTo>
                  <a:lnTo>
                    <a:pt x="11120501" y="0"/>
                  </a:lnTo>
                  <a:cubicBezTo>
                    <a:pt x="11155299" y="0"/>
                    <a:pt x="11183493" y="28194"/>
                    <a:pt x="11183493" y="62992"/>
                  </a:cubicBezTo>
                  <a:lnTo>
                    <a:pt x="11183493" y="1511808"/>
                  </a:lnTo>
                  <a:cubicBezTo>
                    <a:pt x="11183493" y="1546606"/>
                    <a:pt x="11155299" y="1574800"/>
                    <a:pt x="11120501" y="1574800"/>
                  </a:cubicBezTo>
                  <a:lnTo>
                    <a:pt x="62992" y="1574800"/>
                  </a:lnTo>
                  <a:cubicBezTo>
                    <a:pt x="28194" y="1574800"/>
                    <a:pt x="0" y="1546606"/>
                    <a:pt x="0" y="1511808"/>
                  </a:cubicBezTo>
                  <a:close/>
                </a:path>
              </a:pathLst>
            </a:custGeom>
            <a:solidFill>
              <a:srgbClr val="FEE2E2"/>
            </a:solidFill>
            <a:ln w="14299" cap="sq">
              <a:solidFill>
                <a:srgbClr val="DC2626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693487" y="4603223"/>
            <a:ext cx="782423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Sugar was 245 after dinner</a:t>
            </a:r>
          </a:p>
          <a:p>
            <a:pPr algn="l">
              <a:lnSpc>
                <a:spcPts val="2401"/>
              </a:lnSpc>
            </a:pPr>
            <a:r>
              <a:rPr lang="en-US" sz="20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→ App stores the number 245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59637" y="4468330"/>
            <a:ext cx="8387601" cy="1181071"/>
            <a:chOff x="0" y="0"/>
            <a:chExt cx="11183468" cy="157476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183493" cy="1574800"/>
            </a:xfrm>
            <a:custGeom>
              <a:avLst/>
              <a:gdLst/>
              <a:ahLst/>
              <a:cxnLst/>
              <a:rect r="r" b="b" t="t" l="l"/>
              <a:pathLst>
                <a:path h="1574800" w="11183493">
                  <a:moveTo>
                    <a:pt x="0" y="62992"/>
                  </a:moveTo>
                  <a:cubicBezTo>
                    <a:pt x="0" y="28194"/>
                    <a:pt x="28194" y="0"/>
                    <a:pt x="62992" y="0"/>
                  </a:cubicBezTo>
                  <a:lnTo>
                    <a:pt x="11120501" y="0"/>
                  </a:lnTo>
                  <a:cubicBezTo>
                    <a:pt x="11155299" y="0"/>
                    <a:pt x="11183493" y="28194"/>
                    <a:pt x="11183493" y="62992"/>
                  </a:cubicBezTo>
                  <a:lnTo>
                    <a:pt x="11183493" y="1511808"/>
                  </a:lnTo>
                  <a:cubicBezTo>
                    <a:pt x="11183493" y="1546606"/>
                    <a:pt x="11155299" y="1574800"/>
                    <a:pt x="11120501" y="1574800"/>
                  </a:cubicBezTo>
                  <a:lnTo>
                    <a:pt x="62992" y="1574800"/>
                  </a:lnTo>
                  <a:cubicBezTo>
                    <a:pt x="28194" y="1574800"/>
                    <a:pt x="0" y="1546606"/>
                    <a:pt x="0" y="1511808"/>
                  </a:cubicBezTo>
                  <a:close/>
                </a:path>
              </a:pathLst>
            </a:custGeom>
            <a:solidFill>
              <a:srgbClr val="DCFCE7"/>
            </a:solidFill>
            <a:ln w="14299" cap="sq">
              <a:solidFill>
                <a:srgbClr val="16A34A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9341320" y="4603223"/>
            <a:ext cx="782423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Knows 245 is HIGH for this patient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→ Tells them what to eat next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411804" y="5772379"/>
            <a:ext cx="8387601" cy="1181071"/>
            <a:chOff x="0" y="0"/>
            <a:chExt cx="11183468" cy="157476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183493" cy="1574800"/>
            </a:xfrm>
            <a:custGeom>
              <a:avLst/>
              <a:gdLst/>
              <a:ahLst/>
              <a:cxnLst/>
              <a:rect r="r" b="b" t="t" l="l"/>
              <a:pathLst>
                <a:path h="1574800" w="11183493">
                  <a:moveTo>
                    <a:pt x="0" y="62992"/>
                  </a:moveTo>
                  <a:cubicBezTo>
                    <a:pt x="0" y="28194"/>
                    <a:pt x="28194" y="0"/>
                    <a:pt x="62992" y="0"/>
                  </a:cubicBezTo>
                  <a:lnTo>
                    <a:pt x="11120501" y="0"/>
                  </a:lnTo>
                  <a:cubicBezTo>
                    <a:pt x="11155299" y="0"/>
                    <a:pt x="11183493" y="28194"/>
                    <a:pt x="11183493" y="62992"/>
                  </a:cubicBezTo>
                  <a:lnTo>
                    <a:pt x="11183493" y="1511808"/>
                  </a:lnTo>
                  <a:cubicBezTo>
                    <a:pt x="11183493" y="1546606"/>
                    <a:pt x="11155299" y="1574800"/>
                    <a:pt x="11120501" y="1574800"/>
                  </a:cubicBezTo>
                  <a:lnTo>
                    <a:pt x="62992" y="1574800"/>
                  </a:lnTo>
                  <a:cubicBezTo>
                    <a:pt x="28194" y="1574800"/>
                    <a:pt x="0" y="1546606"/>
                    <a:pt x="0" y="1511808"/>
                  </a:cubicBezTo>
                  <a:close/>
                </a:path>
              </a:pathLst>
            </a:custGeom>
            <a:solidFill>
              <a:srgbClr val="FEE2E2"/>
            </a:solidFill>
            <a:ln w="14299" cap="sq">
              <a:solidFill>
                <a:srgbClr val="DC2626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693487" y="5907262"/>
            <a:ext cx="782423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Doctor sees a table of numbers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→ Must interpret alone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059637" y="5772379"/>
            <a:ext cx="8387601" cy="1181071"/>
            <a:chOff x="0" y="0"/>
            <a:chExt cx="11183468" cy="157476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183493" cy="1574800"/>
            </a:xfrm>
            <a:custGeom>
              <a:avLst/>
              <a:gdLst/>
              <a:ahLst/>
              <a:cxnLst/>
              <a:rect r="r" b="b" t="t" l="l"/>
              <a:pathLst>
                <a:path h="1574800" w="11183493">
                  <a:moveTo>
                    <a:pt x="0" y="62992"/>
                  </a:moveTo>
                  <a:cubicBezTo>
                    <a:pt x="0" y="28194"/>
                    <a:pt x="28194" y="0"/>
                    <a:pt x="62992" y="0"/>
                  </a:cubicBezTo>
                  <a:lnTo>
                    <a:pt x="11120501" y="0"/>
                  </a:lnTo>
                  <a:cubicBezTo>
                    <a:pt x="11155299" y="0"/>
                    <a:pt x="11183493" y="28194"/>
                    <a:pt x="11183493" y="62992"/>
                  </a:cubicBezTo>
                  <a:lnTo>
                    <a:pt x="11183493" y="1511808"/>
                  </a:lnTo>
                  <a:cubicBezTo>
                    <a:pt x="11183493" y="1546606"/>
                    <a:pt x="11155299" y="1574800"/>
                    <a:pt x="11120501" y="1574800"/>
                  </a:cubicBezTo>
                  <a:lnTo>
                    <a:pt x="62992" y="1574800"/>
                  </a:lnTo>
                  <a:cubicBezTo>
                    <a:pt x="28194" y="1574800"/>
                    <a:pt x="0" y="1546606"/>
                    <a:pt x="0" y="1511808"/>
                  </a:cubicBezTo>
                  <a:close/>
                </a:path>
              </a:pathLst>
            </a:custGeom>
            <a:solidFill>
              <a:srgbClr val="DCFCE7"/>
            </a:solidFill>
            <a:ln w="14299" cap="sq">
              <a:solidFill>
                <a:srgbClr val="16A34A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9341320" y="5907262"/>
            <a:ext cx="782423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AI says: HbA1c dropping but LDL rising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→ Recommend statin discussion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411804" y="7076418"/>
            <a:ext cx="8387601" cy="1181071"/>
            <a:chOff x="0" y="0"/>
            <a:chExt cx="11183468" cy="157476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183493" cy="1574800"/>
            </a:xfrm>
            <a:custGeom>
              <a:avLst/>
              <a:gdLst/>
              <a:ahLst/>
              <a:cxnLst/>
              <a:rect r="r" b="b" t="t" l="l"/>
              <a:pathLst>
                <a:path h="1574800" w="11183493">
                  <a:moveTo>
                    <a:pt x="0" y="62992"/>
                  </a:moveTo>
                  <a:cubicBezTo>
                    <a:pt x="0" y="28194"/>
                    <a:pt x="28194" y="0"/>
                    <a:pt x="62992" y="0"/>
                  </a:cubicBezTo>
                  <a:lnTo>
                    <a:pt x="11120501" y="0"/>
                  </a:lnTo>
                  <a:cubicBezTo>
                    <a:pt x="11155299" y="0"/>
                    <a:pt x="11183493" y="28194"/>
                    <a:pt x="11183493" y="62992"/>
                  </a:cubicBezTo>
                  <a:lnTo>
                    <a:pt x="11183493" y="1511808"/>
                  </a:lnTo>
                  <a:cubicBezTo>
                    <a:pt x="11183493" y="1546606"/>
                    <a:pt x="11155299" y="1574800"/>
                    <a:pt x="11120501" y="1574800"/>
                  </a:cubicBezTo>
                  <a:lnTo>
                    <a:pt x="62992" y="1574800"/>
                  </a:lnTo>
                  <a:cubicBezTo>
                    <a:pt x="28194" y="1574800"/>
                    <a:pt x="0" y="1546606"/>
                    <a:pt x="0" y="1511808"/>
                  </a:cubicBezTo>
                  <a:close/>
                </a:path>
              </a:pathLst>
            </a:custGeom>
            <a:solidFill>
              <a:srgbClr val="FEE2E2"/>
            </a:solidFill>
            <a:ln w="14299" cap="sq">
              <a:solidFill>
                <a:srgbClr val="DC2626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693487" y="7211301"/>
            <a:ext cx="7824235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22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Can I eat nasi lemak?</a:t>
            </a:r>
          </a:p>
          <a:p>
            <a:pPr algn="l">
              <a:lnSpc>
                <a:spcPts val="2641"/>
              </a:lnSpc>
            </a:pPr>
            <a:r>
              <a:rPr lang="en-US" sz="22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→ Generic PDF advice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059637" y="7076418"/>
            <a:ext cx="8387601" cy="1181071"/>
            <a:chOff x="0" y="0"/>
            <a:chExt cx="11183468" cy="157476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183493" cy="1574800"/>
            </a:xfrm>
            <a:custGeom>
              <a:avLst/>
              <a:gdLst/>
              <a:ahLst/>
              <a:cxnLst/>
              <a:rect r="r" b="b" t="t" l="l"/>
              <a:pathLst>
                <a:path h="1574800" w="11183493">
                  <a:moveTo>
                    <a:pt x="0" y="62992"/>
                  </a:moveTo>
                  <a:cubicBezTo>
                    <a:pt x="0" y="28194"/>
                    <a:pt x="28194" y="0"/>
                    <a:pt x="62992" y="0"/>
                  </a:cubicBezTo>
                  <a:lnTo>
                    <a:pt x="11120501" y="0"/>
                  </a:lnTo>
                  <a:cubicBezTo>
                    <a:pt x="11155299" y="0"/>
                    <a:pt x="11183493" y="28194"/>
                    <a:pt x="11183493" y="62992"/>
                  </a:cubicBezTo>
                  <a:lnTo>
                    <a:pt x="11183493" y="1511808"/>
                  </a:lnTo>
                  <a:cubicBezTo>
                    <a:pt x="11183493" y="1546606"/>
                    <a:pt x="11155299" y="1574800"/>
                    <a:pt x="11120501" y="1574800"/>
                  </a:cubicBezTo>
                  <a:lnTo>
                    <a:pt x="62992" y="1574800"/>
                  </a:lnTo>
                  <a:cubicBezTo>
                    <a:pt x="28194" y="1574800"/>
                    <a:pt x="0" y="1546606"/>
                    <a:pt x="0" y="1511808"/>
                  </a:cubicBezTo>
                  <a:close/>
                </a:path>
              </a:pathLst>
            </a:custGeom>
            <a:solidFill>
              <a:srgbClr val="DCFCE7"/>
            </a:solidFill>
            <a:ln w="14299" cap="sq">
              <a:solidFill>
                <a:srgbClr val="16A34A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9341320" y="7211301"/>
            <a:ext cx="782423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Knows their weight, meds, HbA1c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→ Half rice + extra egg + teh-o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411804" y="8380447"/>
            <a:ext cx="8387601" cy="1181071"/>
            <a:chOff x="0" y="0"/>
            <a:chExt cx="11183468" cy="157476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183493" cy="1574800"/>
            </a:xfrm>
            <a:custGeom>
              <a:avLst/>
              <a:gdLst/>
              <a:ahLst/>
              <a:cxnLst/>
              <a:rect r="r" b="b" t="t" l="l"/>
              <a:pathLst>
                <a:path h="1574800" w="11183493">
                  <a:moveTo>
                    <a:pt x="0" y="62992"/>
                  </a:moveTo>
                  <a:cubicBezTo>
                    <a:pt x="0" y="28194"/>
                    <a:pt x="28194" y="0"/>
                    <a:pt x="62992" y="0"/>
                  </a:cubicBezTo>
                  <a:lnTo>
                    <a:pt x="11120501" y="0"/>
                  </a:lnTo>
                  <a:cubicBezTo>
                    <a:pt x="11155299" y="0"/>
                    <a:pt x="11183493" y="28194"/>
                    <a:pt x="11183493" y="62992"/>
                  </a:cubicBezTo>
                  <a:lnTo>
                    <a:pt x="11183493" y="1511808"/>
                  </a:lnTo>
                  <a:cubicBezTo>
                    <a:pt x="11183493" y="1546606"/>
                    <a:pt x="11155299" y="1574800"/>
                    <a:pt x="11120501" y="1574800"/>
                  </a:cubicBezTo>
                  <a:lnTo>
                    <a:pt x="62992" y="1574800"/>
                  </a:lnTo>
                  <a:cubicBezTo>
                    <a:pt x="28194" y="1574800"/>
                    <a:pt x="0" y="1546606"/>
                    <a:pt x="0" y="1511808"/>
                  </a:cubicBezTo>
                  <a:close/>
                </a:path>
              </a:pathLst>
            </a:custGeom>
            <a:solidFill>
              <a:srgbClr val="FEE2E2"/>
            </a:solidFill>
            <a:ln w="14299" cap="sq">
              <a:solidFill>
                <a:srgbClr val="DC2626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693487" y="8515340"/>
            <a:ext cx="782423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Risk detection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→ Nothing until next visit (3 months)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059637" y="8380447"/>
            <a:ext cx="8387601" cy="1181071"/>
            <a:chOff x="0" y="0"/>
            <a:chExt cx="11183468" cy="157476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183493" cy="1574800"/>
            </a:xfrm>
            <a:custGeom>
              <a:avLst/>
              <a:gdLst/>
              <a:ahLst/>
              <a:cxnLst/>
              <a:rect r="r" b="b" t="t" l="l"/>
              <a:pathLst>
                <a:path h="1574800" w="11183493">
                  <a:moveTo>
                    <a:pt x="0" y="62992"/>
                  </a:moveTo>
                  <a:cubicBezTo>
                    <a:pt x="0" y="28194"/>
                    <a:pt x="28194" y="0"/>
                    <a:pt x="62992" y="0"/>
                  </a:cubicBezTo>
                  <a:lnTo>
                    <a:pt x="11120501" y="0"/>
                  </a:lnTo>
                  <a:cubicBezTo>
                    <a:pt x="11155299" y="0"/>
                    <a:pt x="11183493" y="28194"/>
                    <a:pt x="11183493" y="62992"/>
                  </a:cubicBezTo>
                  <a:lnTo>
                    <a:pt x="11183493" y="1511808"/>
                  </a:lnTo>
                  <a:cubicBezTo>
                    <a:pt x="11183493" y="1546606"/>
                    <a:pt x="11155299" y="1574800"/>
                    <a:pt x="11120501" y="1574800"/>
                  </a:cubicBezTo>
                  <a:lnTo>
                    <a:pt x="62992" y="1574800"/>
                  </a:lnTo>
                  <a:cubicBezTo>
                    <a:pt x="28194" y="1574800"/>
                    <a:pt x="0" y="1546606"/>
                    <a:pt x="0" y="1511808"/>
                  </a:cubicBezTo>
                  <a:close/>
                </a:path>
              </a:pathLst>
            </a:custGeom>
            <a:solidFill>
              <a:srgbClr val="DCFCE7"/>
            </a:solidFill>
            <a:ln w="14299" cap="sq">
              <a:solidFill>
                <a:srgbClr val="16A34A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9341320" y="8515340"/>
            <a:ext cx="782423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Flags: meal gap + medication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→ Hypo risk RIGHT NOW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82363"/>
            <a:chOff x="0" y="0"/>
            <a:chExt cx="24402453" cy="1098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09855"/>
            </a:xfrm>
            <a:custGeom>
              <a:avLst/>
              <a:gdLst/>
              <a:ahLst/>
              <a:cxnLst/>
              <a:rect r="r" b="b" t="t" l="l"/>
              <a:pathLst>
                <a:path h="10985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1804" y="274539"/>
            <a:ext cx="521618" cy="521618"/>
            <a:chOff x="0" y="0"/>
            <a:chExt cx="695490" cy="6954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5452" cy="695452"/>
            </a:xfrm>
            <a:custGeom>
              <a:avLst/>
              <a:gdLst/>
              <a:ahLst/>
              <a:cxnLst/>
              <a:rect r="r" b="b" t="t" l="l"/>
              <a:pathLst>
                <a:path h="695452" w="695452">
                  <a:moveTo>
                    <a:pt x="0" y="208661"/>
                  </a:moveTo>
                  <a:cubicBezTo>
                    <a:pt x="0" y="93472"/>
                    <a:pt x="93472" y="0"/>
                    <a:pt x="208661" y="0"/>
                  </a:cubicBezTo>
                  <a:lnTo>
                    <a:pt x="486791" y="0"/>
                  </a:lnTo>
                  <a:cubicBezTo>
                    <a:pt x="601980" y="0"/>
                    <a:pt x="695452" y="93472"/>
                    <a:pt x="695452" y="208661"/>
                  </a:cubicBezTo>
                  <a:lnTo>
                    <a:pt x="695452" y="486791"/>
                  </a:lnTo>
                  <a:cubicBezTo>
                    <a:pt x="695452" y="601980"/>
                    <a:pt x="601980" y="695452"/>
                    <a:pt x="486791" y="695452"/>
                  </a:cubicBezTo>
                  <a:lnTo>
                    <a:pt x="208661" y="695452"/>
                  </a:lnTo>
                  <a:cubicBezTo>
                    <a:pt x="93472" y="695452"/>
                    <a:pt x="0" y="602107"/>
                    <a:pt x="0" y="486791"/>
                  </a:cubicBezTo>
                  <a:close/>
                </a:path>
              </a:pathLst>
            </a:custGeom>
            <a:solidFill>
              <a:srgbClr val="ACFFC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11804" y="274539"/>
            <a:ext cx="521618" cy="521618"/>
            <a:chOff x="0" y="0"/>
            <a:chExt cx="695490" cy="695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5487" cy="695487"/>
            </a:xfrm>
            <a:custGeom>
              <a:avLst/>
              <a:gdLst/>
              <a:ahLst/>
              <a:cxnLst/>
              <a:rect r="r" b="b" t="t" l="l"/>
              <a:pathLst>
                <a:path h="695487" w="695487">
                  <a:moveTo>
                    <a:pt x="0" y="0"/>
                  </a:moveTo>
                  <a:lnTo>
                    <a:pt x="695487" y="0"/>
                  </a:lnTo>
                  <a:lnTo>
                    <a:pt x="69548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695490" cy="743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🩺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70686" y="319916"/>
            <a:ext cx="480435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Diabetes Control AI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95039" y="310391"/>
            <a:ext cx="754969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Privacy &amp; Security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6333" y="1157249"/>
            <a:ext cx="16472068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How We Protect Patient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6333" y="1774946"/>
            <a:ext cx="1647206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4748B"/>
                </a:solidFill>
                <a:latin typeface="Bantayog"/>
                <a:ea typeface="Bantayog"/>
                <a:cs typeface="Bantayog"/>
                <a:sym typeface="Bantayog"/>
              </a:rPr>
              <a:t>Healthcare data is sensitive. Here's how we keep it safe at every layer.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79190" y="2463660"/>
            <a:ext cx="8113062" cy="1798777"/>
            <a:chOff x="0" y="0"/>
            <a:chExt cx="10817416" cy="23983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17352" cy="2398268"/>
            </a:xfrm>
            <a:custGeom>
              <a:avLst/>
              <a:gdLst/>
              <a:ahLst/>
              <a:cxnLst/>
              <a:rect r="r" b="b" t="t" l="l"/>
              <a:pathLst>
                <a:path h="2398268" w="10817352">
                  <a:moveTo>
                    <a:pt x="0" y="95885"/>
                  </a:moveTo>
                  <a:cubicBezTo>
                    <a:pt x="0" y="42926"/>
                    <a:pt x="42926" y="0"/>
                    <a:pt x="95885" y="0"/>
                  </a:cubicBezTo>
                  <a:lnTo>
                    <a:pt x="10721467" y="0"/>
                  </a:lnTo>
                  <a:cubicBezTo>
                    <a:pt x="10774426" y="0"/>
                    <a:pt x="10817352" y="42926"/>
                    <a:pt x="10817352" y="95885"/>
                  </a:cubicBezTo>
                  <a:lnTo>
                    <a:pt x="10817352" y="2302383"/>
                  </a:lnTo>
                  <a:cubicBezTo>
                    <a:pt x="10817352" y="2355342"/>
                    <a:pt x="10774426" y="2398268"/>
                    <a:pt x="10721467" y="2398268"/>
                  </a:cubicBezTo>
                  <a:lnTo>
                    <a:pt x="95885" y="2398268"/>
                  </a:lnTo>
                  <a:cubicBezTo>
                    <a:pt x="42926" y="2398268"/>
                    <a:pt x="0" y="2355342"/>
                    <a:pt x="0" y="2302383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86333" y="2470814"/>
            <a:ext cx="96088" cy="1784471"/>
            <a:chOff x="0" y="0"/>
            <a:chExt cx="128118" cy="237929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8143" cy="2379345"/>
            </a:xfrm>
            <a:custGeom>
              <a:avLst/>
              <a:gdLst/>
              <a:ahLst/>
              <a:cxnLst/>
              <a:rect r="r" b="b" t="t" l="l"/>
              <a:pathLst>
                <a:path h="2379345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29500" y="2560453"/>
            <a:ext cx="7549696" cy="528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6A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🔐 Authentication &amp; Access Control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9500" y="3078985"/>
            <a:ext cx="7549696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Amazon Cognito: email-verified sign-up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Role-based: Patient cannot access Doctor dashboard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Doctor accounts require Admin verification before appearing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Session tokens expire after 30 minutes of inactivity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395660" y="2463660"/>
            <a:ext cx="8113062" cy="1798777"/>
            <a:chOff x="0" y="0"/>
            <a:chExt cx="10817416" cy="23983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817352" cy="2398268"/>
            </a:xfrm>
            <a:custGeom>
              <a:avLst/>
              <a:gdLst/>
              <a:ahLst/>
              <a:cxnLst/>
              <a:rect r="r" b="b" t="t" l="l"/>
              <a:pathLst>
                <a:path h="2398268" w="10817352">
                  <a:moveTo>
                    <a:pt x="0" y="95885"/>
                  </a:moveTo>
                  <a:cubicBezTo>
                    <a:pt x="0" y="42926"/>
                    <a:pt x="42926" y="0"/>
                    <a:pt x="95885" y="0"/>
                  </a:cubicBezTo>
                  <a:lnTo>
                    <a:pt x="10721467" y="0"/>
                  </a:lnTo>
                  <a:cubicBezTo>
                    <a:pt x="10774426" y="0"/>
                    <a:pt x="10817352" y="42926"/>
                    <a:pt x="10817352" y="95885"/>
                  </a:cubicBezTo>
                  <a:lnTo>
                    <a:pt x="10817352" y="2302383"/>
                  </a:lnTo>
                  <a:cubicBezTo>
                    <a:pt x="10817352" y="2355342"/>
                    <a:pt x="10774426" y="2398268"/>
                    <a:pt x="10721467" y="2398268"/>
                  </a:cubicBezTo>
                  <a:lnTo>
                    <a:pt x="95885" y="2398268"/>
                  </a:lnTo>
                  <a:cubicBezTo>
                    <a:pt x="42926" y="2398268"/>
                    <a:pt x="0" y="2355342"/>
                    <a:pt x="0" y="2302383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402804" y="2470814"/>
            <a:ext cx="96088" cy="1784471"/>
            <a:chOff x="0" y="0"/>
            <a:chExt cx="128118" cy="237929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8143" cy="2379345"/>
            </a:xfrm>
            <a:custGeom>
              <a:avLst/>
              <a:gdLst/>
              <a:ahLst/>
              <a:cxnLst/>
              <a:rect r="r" b="b" t="t" l="l"/>
              <a:pathLst>
                <a:path h="2379345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745970" y="2560453"/>
            <a:ext cx="7549696" cy="528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563E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🔒 Data Encryption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45970" y="3078985"/>
            <a:ext cx="7549696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HTTPS everywhere (CloudFront TLS 1.3)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DynamoDB encryption at rest (AES-256, AWS-managed keys)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Data isolated per user (email = partition key)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No cross-account data access possible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79190" y="4522670"/>
            <a:ext cx="8113062" cy="1798777"/>
            <a:chOff x="0" y="0"/>
            <a:chExt cx="10817416" cy="239837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817352" cy="2398268"/>
            </a:xfrm>
            <a:custGeom>
              <a:avLst/>
              <a:gdLst/>
              <a:ahLst/>
              <a:cxnLst/>
              <a:rect r="r" b="b" t="t" l="l"/>
              <a:pathLst>
                <a:path h="2398268" w="10817352">
                  <a:moveTo>
                    <a:pt x="0" y="95885"/>
                  </a:moveTo>
                  <a:cubicBezTo>
                    <a:pt x="0" y="42926"/>
                    <a:pt x="42926" y="0"/>
                    <a:pt x="95885" y="0"/>
                  </a:cubicBezTo>
                  <a:lnTo>
                    <a:pt x="10721467" y="0"/>
                  </a:lnTo>
                  <a:cubicBezTo>
                    <a:pt x="10774426" y="0"/>
                    <a:pt x="10817352" y="42926"/>
                    <a:pt x="10817352" y="95885"/>
                  </a:cubicBezTo>
                  <a:lnTo>
                    <a:pt x="10817352" y="2302383"/>
                  </a:lnTo>
                  <a:cubicBezTo>
                    <a:pt x="10817352" y="2355342"/>
                    <a:pt x="10774426" y="2398268"/>
                    <a:pt x="10721467" y="2398268"/>
                  </a:cubicBezTo>
                  <a:lnTo>
                    <a:pt x="95885" y="2398268"/>
                  </a:lnTo>
                  <a:cubicBezTo>
                    <a:pt x="42926" y="2398268"/>
                    <a:pt x="0" y="2355342"/>
                    <a:pt x="0" y="2302383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686333" y="4529823"/>
            <a:ext cx="96088" cy="1784471"/>
            <a:chOff x="0" y="0"/>
            <a:chExt cx="128118" cy="237929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8143" cy="2379345"/>
            </a:xfrm>
            <a:custGeom>
              <a:avLst/>
              <a:gdLst/>
              <a:ahLst/>
              <a:cxnLst/>
              <a:rect r="r" b="b" t="t" l="l"/>
              <a:pathLst>
                <a:path h="2379345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029500" y="4619463"/>
            <a:ext cx="7549696" cy="528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🛡️ AI Safety Guardrails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9500" y="5137995"/>
            <a:ext cx="7549696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System prompt forbids medication dose changes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Temperature 0.3 = factual, low-hallucination responses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Crisis detection: redirects to emergency services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Disclaimer on every output: 'Not a replacement for your doctor'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395660" y="4522670"/>
            <a:ext cx="8113062" cy="1798777"/>
            <a:chOff x="0" y="0"/>
            <a:chExt cx="10817416" cy="23983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817352" cy="2398268"/>
            </a:xfrm>
            <a:custGeom>
              <a:avLst/>
              <a:gdLst/>
              <a:ahLst/>
              <a:cxnLst/>
              <a:rect r="r" b="b" t="t" l="l"/>
              <a:pathLst>
                <a:path h="2398268" w="10817352">
                  <a:moveTo>
                    <a:pt x="0" y="95885"/>
                  </a:moveTo>
                  <a:cubicBezTo>
                    <a:pt x="0" y="42926"/>
                    <a:pt x="42926" y="0"/>
                    <a:pt x="95885" y="0"/>
                  </a:cubicBezTo>
                  <a:lnTo>
                    <a:pt x="10721467" y="0"/>
                  </a:lnTo>
                  <a:cubicBezTo>
                    <a:pt x="10774426" y="0"/>
                    <a:pt x="10817352" y="42926"/>
                    <a:pt x="10817352" y="95885"/>
                  </a:cubicBezTo>
                  <a:lnTo>
                    <a:pt x="10817352" y="2302383"/>
                  </a:lnTo>
                  <a:cubicBezTo>
                    <a:pt x="10817352" y="2355342"/>
                    <a:pt x="10774426" y="2398268"/>
                    <a:pt x="10721467" y="2398268"/>
                  </a:cubicBezTo>
                  <a:lnTo>
                    <a:pt x="95885" y="2398268"/>
                  </a:lnTo>
                  <a:cubicBezTo>
                    <a:pt x="42926" y="2398268"/>
                    <a:pt x="0" y="2355342"/>
                    <a:pt x="0" y="2302383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402804" y="4529823"/>
            <a:ext cx="96088" cy="1784471"/>
            <a:chOff x="0" y="0"/>
            <a:chExt cx="128118" cy="23792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8143" cy="2379345"/>
            </a:xfrm>
            <a:custGeom>
              <a:avLst/>
              <a:gdLst/>
              <a:ahLst/>
              <a:cxnLst/>
              <a:rect r="r" b="b" t="t" l="l"/>
              <a:pathLst>
                <a:path h="2379345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745970" y="4619463"/>
            <a:ext cx="7549696" cy="528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DC26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📍 Data Residency &amp; Compliance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745970" y="5137995"/>
            <a:ext cx="7549696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All data stays in ap-southeast-1 (Singapore)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No data leaves ASEAN region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AWS is HIPAA-eligible and SOC 2 certified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Designed for future PDPA (Malaysia) compliance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No patient data used to train AI models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679190" y="6581680"/>
            <a:ext cx="8113062" cy="1798777"/>
            <a:chOff x="0" y="0"/>
            <a:chExt cx="10817416" cy="23983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817352" cy="2398268"/>
            </a:xfrm>
            <a:custGeom>
              <a:avLst/>
              <a:gdLst/>
              <a:ahLst/>
              <a:cxnLst/>
              <a:rect r="r" b="b" t="t" l="l"/>
              <a:pathLst>
                <a:path h="2398268" w="10817352">
                  <a:moveTo>
                    <a:pt x="0" y="95885"/>
                  </a:moveTo>
                  <a:cubicBezTo>
                    <a:pt x="0" y="42926"/>
                    <a:pt x="42926" y="0"/>
                    <a:pt x="95885" y="0"/>
                  </a:cubicBezTo>
                  <a:lnTo>
                    <a:pt x="10721467" y="0"/>
                  </a:lnTo>
                  <a:cubicBezTo>
                    <a:pt x="10774426" y="0"/>
                    <a:pt x="10817352" y="42926"/>
                    <a:pt x="10817352" y="95885"/>
                  </a:cubicBezTo>
                  <a:lnTo>
                    <a:pt x="10817352" y="2302383"/>
                  </a:lnTo>
                  <a:cubicBezTo>
                    <a:pt x="10817352" y="2355342"/>
                    <a:pt x="10774426" y="2398268"/>
                    <a:pt x="10721467" y="2398268"/>
                  </a:cubicBezTo>
                  <a:lnTo>
                    <a:pt x="95885" y="2398268"/>
                  </a:lnTo>
                  <a:cubicBezTo>
                    <a:pt x="42926" y="2398268"/>
                    <a:pt x="0" y="2355342"/>
                    <a:pt x="0" y="2302383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686333" y="6588824"/>
            <a:ext cx="96088" cy="1784471"/>
            <a:chOff x="0" y="0"/>
            <a:chExt cx="128118" cy="237929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8143" cy="2379345"/>
            </a:xfrm>
            <a:custGeom>
              <a:avLst/>
              <a:gdLst/>
              <a:ahLst/>
              <a:cxnLst/>
              <a:rect r="r" b="b" t="t" l="l"/>
              <a:pathLst>
                <a:path h="2379345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029500" y="6678473"/>
            <a:ext cx="7549696" cy="528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D9770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👁️ Doctor Access Controls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29500" y="7197004"/>
            <a:ext cx="7549696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Doctor only sees patients who CHOSE to share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Patients select what to share (checkboxes)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Doctor cannot access other doctors' patients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Admin can revoke doctor access instantly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395660" y="6581680"/>
            <a:ext cx="8113062" cy="1798777"/>
            <a:chOff x="0" y="0"/>
            <a:chExt cx="10817416" cy="23983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817352" cy="2398268"/>
            </a:xfrm>
            <a:custGeom>
              <a:avLst/>
              <a:gdLst/>
              <a:ahLst/>
              <a:cxnLst/>
              <a:rect r="r" b="b" t="t" l="l"/>
              <a:pathLst>
                <a:path h="2398268" w="10817352">
                  <a:moveTo>
                    <a:pt x="0" y="95885"/>
                  </a:moveTo>
                  <a:cubicBezTo>
                    <a:pt x="0" y="42926"/>
                    <a:pt x="42926" y="0"/>
                    <a:pt x="95885" y="0"/>
                  </a:cubicBezTo>
                  <a:lnTo>
                    <a:pt x="10721467" y="0"/>
                  </a:lnTo>
                  <a:cubicBezTo>
                    <a:pt x="10774426" y="0"/>
                    <a:pt x="10817352" y="42926"/>
                    <a:pt x="10817352" y="95885"/>
                  </a:cubicBezTo>
                  <a:lnTo>
                    <a:pt x="10817352" y="2302383"/>
                  </a:lnTo>
                  <a:cubicBezTo>
                    <a:pt x="10817352" y="2355342"/>
                    <a:pt x="10774426" y="2398268"/>
                    <a:pt x="10721467" y="2398268"/>
                  </a:cubicBezTo>
                  <a:lnTo>
                    <a:pt x="95885" y="2398268"/>
                  </a:lnTo>
                  <a:cubicBezTo>
                    <a:pt x="42926" y="2398268"/>
                    <a:pt x="0" y="2355342"/>
                    <a:pt x="0" y="2302383"/>
                  </a:cubicBezTo>
                  <a:close/>
                </a:path>
              </a:pathLst>
            </a:custGeom>
            <a:solidFill>
              <a:srgbClr val="F8FAFC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9402804" y="6588824"/>
            <a:ext cx="96088" cy="1784471"/>
            <a:chOff x="0" y="0"/>
            <a:chExt cx="128118" cy="237929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8143" cy="2379345"/>
            </a:xfrm>
            <a:custGeom>
              <a:avLst/>
              <a:gdLst/>
              <a:ahLst/>
              <a:cxnLst/>
              <a:rect r="r" b="b" t="t" l="l"/>
              <a:pathLst>
                <a:path h="2379345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9745970" y="6678473"/>
            <a:ext cx="7549696" cy="528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📊 Monitoring &amp; Audit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745970" y="7197004"/>
            <a:ext cx="7549696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CloudWatch logs every API call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All actions timestamped in DynamoDB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Admin can see who accessed what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EventBridge detects unusual patterns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• No data is ever permanently deleted without consent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679190" y="8640689"/>
            <a:ext cx="16898169" cy="975170"/>
            <a:chOff x="0" y="0"/>
            <a:chExt cx="22530892" cy="130022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531070" cy="1300226"/>
            </a:xfrm>
            <a:custGeom>
              <a:avLst/>
              <a:gdLst/>
              <a:ahLst/>
              <a:cxnLst/>
              <a:rect r="r" b="b" t="t" l="l"/>
              <a:pathLst>
                <a:path h="1300226" w="22531070">
                  <a:moveTo>
                    <a:pt x="0" y="52070"/>
                  </a:moveTo>
                  <a:cubicBezTo>
                    <a:pt x="0" y="23241"/>
                    <a:pt x="23241" y="0"/>
                    <a:pt x="52070" y="0"/>
                  </a:cubicBezTo>
                  <a:lnTo>
                    <a:pt x="22479000" y="0"/>
                  </a:lnTo>
                  <a:cubicBezTo>
                    <a:pt x="22507702" y="0"/>
                    <a:pt x="22531070" y="23241"/>
                    <a:pt x="22531070" y="52070"/>
                  </a:cubicBezTo>
                  <a:lnTo>
                    <a:pt x="22531070" y="1248156"/>
                  </a:lnTo>
                  <a:cubicBezTo>
                    <a:pt x="22531070" y="1276858"/>
                    <a:pt x="22507829" y="1300226"/>
                    <a:pt x="22479000" y="1300226"/>
                  </a:cubicBezTo>
                  <a:lnTo>
                    <a:pt x="52070" y="1300226"/>
                  </a:lnTo>
                  <a:cubicBezTo>
                    <a:pt x="23368" y="1300226"/>
                    <a:pt x="0" y="1276985"/>
                    <a:pt x="0" y="1248156"/>
                  </a:cubicBezTo>
                  <a:close/>
                </a:path>
              </a:pathLst>
            </a:custGeom>
            <a:solidFill>
              <a:srgbClr val="DCFCE7"/>
            </a:solidFill>
            <a:ln w="14299" cap="sq">
              <a:solidFill>
                <a:srgbClr val="16A34A"/>
              </a:solidFill>
              <a:prstDash val="solid"/>
              <a:miter/>
            </a:ln>
          </p:spPr>
        </p:sp>
      </p:grpSp>
      <p:sp>
        <p:nvSpPr>
          <p:cNvPr name="TextBox 53" id="53"/>
          <p:cNvSpPr txBox="true"/>
          <p:nvPr/>
        </p:nvSpPr>
        <p:spPr>
          <a:xfrm rot="0">
            <a:off x="960872" y="8775583"/>
            <a:ext cx="1633480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6A34A"/>
                </a:solidFill>
                <a:latin typeface="Bantayog"/>
                <a:ea typeface="Bantayog"/>
                <a:cs typeface="Bantayog"/>
                <a:sym typeface="Bantayog"/>
              </a:rPr>
              <a:t>Key Principle: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60872" y="9187377"/>
            <a:ext cx="1633480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The patient owns their data. They choose what to share, and can delete it anytime.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82363"/>
            <a:chOff x="0" y="0"/>
            <a:chExt cx="24402453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09855"/>
            </a:xfrm>
            <a:custGeom>
              <a:avLst/>
              <a:gdLst/>
              <a:ahLst/>
              <a:cxnLst/>
              <a:rect r="r" b="b" t="t" l="l"/>
              <a:pathLst>
                <a:path h="10985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11804" y="274539"/>
            <a:ext cx="754161" cy="754161"/>
            <a:chOff x="0" y="0"/>
            <a:chExt cx="695490" cy="6954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5452" cy="695452"/>
            </a:xfrm>
            <a:custGeom>
              <a:avLst/>
              <a:gdLst/>
              <a:ahLst/>
              <a:cxnLst/>
              <a:rect r="r" b="b" t="t" l="l"/>
              <a:pathLst>
                <a:path h="695452" w="695452">
                  <a:moveTo>
                    <a:pt x="0" y="208661"/>
                  </a:moveTo>
                  <a:cubicBezTo>
                    <a:pt x="0" y="93472"/>
                    <a:pt x="93472" y="0"/>
                    <a:pt x="208661" y="0"/>
                  </a:cubicBezTo>
                  <a:lnTo>
                    <a:pt x="486791" y="0"/>
                  </a:lnTo>
                  <a:cubicBezTo>
                    <a:pt x="601980" y="0"/>
                    <a:pt x="695452" y="93472"/>
                    <a:pt x="695452" y="208661"/>
                  </a:cubicBezTo>
                  <a:lnTo>
                    <a:pt x="695452" y="486791"/>
                  </a:lnTo>
                  <a:cubicBezTo>
                    <a:pt x="695452" y="601980"/>
                    <a:pt x="601980" y="695452"/>
                    <a:pt x="486791" y="695452"/>
                  </a:cubicBezTo>
                  <a:lnTo>
                    <a:pt x="208661" y="695452"/>
                  </a:lnTo>
                  <a:cubicBezTo>
                    <a:pt x="93472" y="695452"/>
                    <a:pt x="0" y="602107"/>
                    <a:pt x="0" y="486791"/>
                  </a:cubicBezTo>
                  <a:close/>
                </a:path>
              </a:pathLst>
            </a:custGeom>
            <a:solidFill>
              <a:srgbClr val="ACFFC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1804" y="274539"/>
            <a:ext cx="754161" cy="754161"/>
            <a:chOff x="0" y="0"/>
            <a:chExt cx="695490" cy="6954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5487" cy="695487"/>
            </a:xfrm>
            <a:custGeom>
              <a:avLst/>
              <a:gdLst/>
              <a:ahLst/>
              <a:cxnLst/>
              <a:rect r="r" b="b" t="t" l="l"/>
              <a:pathLst>
                <a:path h="695487" w="695487">
                  <a:moveTo>
                    <a:pt x="0" y="0"/>
                  </a:moveTo>
                  <a:lnTo>
                    <a:pt x="695487" y="0"/>
                  </a:lnTo>
                  <a:lnTo>
                    <a:pt x="69548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695490" cy="743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🩺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95039" y="5231595"/>
            <a:ext cx="7165504" cy="607662"/>
            <a:chOff x="0" y="0"/>
            <a:chExt cx="13398805" cy="11362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398754" cy="1136269"/>
            </a:xfrm>
            <a:custGeom>
              <a:avLst/>
              <a:gdLst/>
              <a:ahLst/>
              <a:cxnLst/>
              <a:rect r="r" b="b" t="t" l="l"/>
              <a:pathLst>
                <a:path h="1136269" w="13398754">
                  <a:moveTo>
                    <a:pt x="0" y="170434"/>
                  </a:moveTo>
                  <a:cubicBezTo>
                    <a:pt x="0" y="76327"/>
                    <a:pt x="76327" y="0"/>
                    <a:pt x="170434" y="0"/>
                  </a:cubicBezTo>
                  <a:lnTo>
                    <a:pt x="13228320" y="0"/>
                  </a:lnTo>
                  <a:cubicBezTo>
                    <a:pt x="13322427" y="0"/>
                    <a:pt x="13398754" y="76327"/>
                    <a:pt x="13398754" y="170434"/>
                  </a:cubicBezTo>
                  <a:lnTo>
                    <a:pt x="13398754" y="965835"/>
                  </a:lnTo>
                  <a:cubicBezTo>
                    <a:pt x="13398754" y="1059942"/>
                    <a:pt x="13322427" y="1136269"/>
                    <a:pt x="13228320" y="1136269"/>
                  </a:cubicBezTo>
                  <a:lnTo>
                    <a:pt x="170434" y="1136269"/>
                  </a:lnTo>
                  <a:cubicBezTo>
                    <a:pt x="76327" y="1136269"/>
                    <a:pt x="0" y="1059942"/>
                    <a:pt x="0" y="965835"/>
                  </a:cubicBezTo>
                  <a:close/>
                </a:path>
              </a:pathLst>
            </a:custGeom>
            <a:solidFill>
              <a:srgbClr val="DCFCE7"/>
            </a:solidFill>
            <a:ln w="28597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305234" y="5241789"/>
            <a:ext cx="7145115" cy="587273"/>
            <a:chOff x="0" y="0"/>
            <a:chExt cx="13360679" cy="10981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60678" cy="1098138"/>
            </a:xfrm>
            <a:custGeom>
              <a:avLst/>
              <a:gdLst/>
              <a:ahLst/>
              <a:cxnLst/>
              <a:rect r="r" b="b" t="t" l="l"/>
              <a:pathLst>
                <a:path h="1098138" w="13360678">
                  <a:moveTo>
                    <a:pt x="0" y="0"/>
                  </a:moveTo>
                  <a:lnTo>
                    <a:pt x="13360678" y="0"/>
                  </a:lnTo>
                  <a:lnTo>
                    <a:pt x="13360678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7067" r="0" b="-1870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3360679" cy="1145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16A34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https://d3onijdn12lthk.cloudfront.net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064271" y="6043107"/>
            <a:ext cx="4011232" cy="4011232"/>
          </a:xfrm>
          <a:custGeom>
            <a:avLst/>
            <a:gdLst/>
            <a:ahLst/>
            <a:cxnLst/>
            <a:rect r="r" b="b" t="t" l="l"/>
            <a:pathLst>
              <a:path h="4011232" w="4011232">
                <a:moveTo>
                  <a:pt x="0" y="0"/>
                </a:moveTo>
                <a:lnTo>
                  <a:pt x="4011232" y="0"/>
                </a:lnTo>
                <a:lnTo>
                  <a:pt x="4011232" y="4011232"/>
                </a:lnTo>
                <a:lnTo>
                  <a:pt x="0" y="40112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64424" y="344392"/>
            <a:ext cx="6946191" cy="34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2170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Diabetes Control AI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15333" y="4426655"/>
            <a:ext cx="2324915" cy="593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4"/>
              </a:lnSpc>
            </a:pPr>
            <a:r>
              <a:rPr lang="en-US" sz="3853">
                <a:solidFill>
                  <a:srgbClr val="16A34A"/>
                </a:solidFill>
                <a:latin typeface="Bantayog"/>
                <a:ea typeface="Bantayog"/>
                <a:cs typeface="Bantayog"/>
                <a:sym typeface="Bantayog"/>
              </a:rPr>
              <a:t>Try It Now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0050" y="8281049"/>
            <a:ext cx="7795368" cy="332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1"/>
              </a:lnSpc>
              <a:spcBef>
                <a:spcPct val="0"/>
              </a:spcBef>
            </a:pPr>
            <a:r>
              <a:rPr lang="en-US" sz="2184">
                <a:solidFill>
                  <a:srgbClr val="000000"/>
                </a:solidFill>
                <a:latin typeface="Bantayog"/>
                <a:ea typeface="Bantayog"/>
                <a:cs typeface="Bantayog"/>
                <a:sym typeface="Bantayog"/>
              </a:rPr>
              <a:t>14 AWS services · $0.13/user/month · Live now · Ready to pilot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9607" y="1723967"/>
            <a:ext cx="18426048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1"/>
              </a:lnSpc>
            </a:pPr>
            <a:r>
              <a:rPr lang="en-US" sz="45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Di</a:t>
            </a:r>
            <a:r>
              <a:rPr lang="en-US" sz="45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abetes Control AI helps manage  diabetes daily without waiting</a:t>
            </a:r>
          </a:p>
          <a:p>
            <a:pPr algn="l">
              <a:lnSpc>
                <a:spcPts val="5461"/>
              </a:lnSpc>
            </a:pPr>
            <a:r>
              <a:rPr lang="en-US" sz="455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for an endocrinologist.</a:t>
            </a:r>
          </a:p>
          <a:p>
            <a:pPr algn="l">
              <a:lnSpc>
                <a:spcPts val="5461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3080312" y="4907822"/>
            <a:ext cx="2496926" cy="2496926"/>
            <a:chOff x="0" y="0"/>
            <a:chExt cx="2745346" cy="274534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45232" cy="2745232"/>
            </a:xfrm>
            <a:custGeom>
              <a:avLst/>
              <a:gdLst/>
              <a:ahLst/>
              <a:cxnLst/>
              <a:rect r="r" b="b" t="t" l="l"/>
              <a:pathLst>
                <a:path h="2745232" w="2745232">
                  <a:moveTo>
                    <a:pt x="0" y="549021"/>
                  </a:moveTo>
                  <a:cubicBezTo>
                    <a:pt x="0" y="245872"/>
                    <a:pt x="245872" y="0"/>
                    <a:pt x="549021" y="0"/>
                  </a:cubicBezTo>
                  <a:lnTo>
                    <a:pt x="2196211" y="0"/>
                  </a:lnTo>
                  <a:cubicBezTo>
                    <a:pt x="2499487" y="0"/>
                    <a:pt x="2745232" y="245872"/>
                    <a:pt x="2745232" y="549021"/>
                  </a:cubicBezTo>
                  <a:lnTo>
                    <a:pt x="2745232" y="2196211"/>
                  </a:lnTo>
                  <a:cubicBezTo>
                    <a:pt x="2745232" y="2499487"/>
                    <a:pt x="2499360" y="2745232"/>
                    <a:pt x="2196211" y="2745232"/>
                  </a:cubicBezTo>
                  <a:lnTo>
                    <a:pt x="549021" y="2745232"/>
                  </a:lnTo>
                  <a:cubicBezTo>
                    <a:pt x="245872" y="2745359"/>
                    <a:pt x="0" y="2499487"/>
                    <a:pt x="0" y="2196338"/>
                  </a:cubicBezTo>
                  <a:close/>
                </a:path>
              </a:pathLst>
            </a:custGeom>
            <a:solidFill>
              <a:srgbClr val="ACFFC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080312" y="4907822"/>
            <a:ext cx="2496926" cy="2496926"/>
            <a:chOff x="0" y="0"/>
            <a:chExt cx="2745346" cy="274534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45345" cy="2745345"/>
            </a:xfrm>
            <a:custGeom>
              <a:avLst/>
              <a:gdLst/>
              <a:ahLst/>
              <a:cxnLst/>
              <a:rect r="r" b="b" t="t" l="l"/>
              <a:pathLst>
                <a:path h="2745345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2745345"/>
                  </a:lnTo>
                  <a:lnTo>
                    <a:pt x="0" y="27453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0"/>
              <a:ext cx="2745346" cy="29358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08"/>
                </a:lnSpc>
              </a:pPr>
              <a:r>
                <a:rPr lang="en-US" sz="9007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🩺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-4113160" y="7738124"/>
            <a:ext cx="1688387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1E293B"/>
                </a:solidFill>
                <a:latin typeface="Bantayog"/>
                <a:ea typeface="Bantayog"/>
                <a:cs typeface="Bantayog"/>
                <a:sym typeface="Bantayog"/>
              </a:rPr>
              <a:t>Three roles · One platform · Powered by Amazon Bedrock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895311" y="9248775"/>
            <a:ext cx="2866929" cy="31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8"/>
              </a:lnSpc>
              <a:spcBef>
                <a:spcPct val="0"/>
              </a:spcBef>
            </a:pPr>
            <a:r>
              <a:rPr lang="en-US" sz="2048">
                <a:solidFill>
                  <a:srgbClr val="000000"/>
                </a:solidFill>
                <a:latin typeface="Bantayog"/>
                <a:ea typeface="Bantayog"/>
                <a:cs typeface="Bantayog"/>
                <a:sym typeface="Bantayog"/>
              </a:rPr>
              <a:t>Thank you · 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DAHNY4zS13k</dc:identifier>
  <dcterms:modified xsi:type="dcterms:W3CDTF">2011-08-01T06:04:30Z</dcterms:modified>
  <cp:revision>1</cp:revision>
  <dc:title>DiabetesControl_AI_v5.pptx</dc:title>
</cp:coreProperties>
</file>