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94960" y="1097280"/>
            <a:ext cx="1371600" cy="1371600"/>
          </a:xfrm>
          <a:prstGeom prst="roundRect">
            <a:avLst>
              <a:gd name="adj" fmla="val 2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0" y="109728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6A34A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Segoe UI"/>
              </a:rPr>
              <a:t>A digital diabetes assistant for everyone in Malaysia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Segoe UI"/>
              </a:rPr>
              <a:t>Three roles · One platform · Powered by Amazon Bedrock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</a:rPr>
              <a:t>AWS CendekiAwan 2.0  ·  MMU Showcase  ·  24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Segoe UI"/>
              </a:rPr>
              <a:t>What is Diabetes Control AI?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In one sentence: A diabetes app where patients get instant AI help, and connect to verified doctors when they need a human.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3703320" cy="4114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370332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Segoe UI"/>
              </a:rPr>
              <a:t>👤  PATIENT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Segoe UI"/>
              </a:rPr>
              <a:t>Who: Anyone with diabetes (or pre-diabetes)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0896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Save personal profile (HbA1c, weight, meds)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Upload lab photo → AI reads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9417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Log meals → get glycemic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8678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Chat with AI Coach 24/7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79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Send health data to a doctor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720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Receive doctor's clinical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2011680"/>
            <a:ext cx="37033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2011680"/>
            <a:ext cx="37033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Segoe UI"/>
              </a:rPr>
              <a:t>👨‍⚕️  DOCTOR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697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Segoe UI"/>
              </a:rPr>
              <a:t>Who: Verified physicians (admin-approved)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10896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See patients who referred them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40156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View 14-day health charts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69417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Read patient's AI insights &amp; labs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98678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Receive automatic risk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279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Send clinical notes back to patient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5720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Click-to-zoom on lab images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2011680"/>
            <a:ext cx="37033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2011680"/>
            <a:ext cx="37033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Segoe UI"/>
              </a:rPr>
              <a:t>🔐  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697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Segoe UI"/>
              </a:rPr>
              <a:t>Who: System operator (you)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10896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Verify doctor credentials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40156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Revoke fake/malicious doctors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69417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Monitor all users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98678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View pending verification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279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System health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5720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Doctor approval workflow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Segoe UI"/>
              </a:rPr>
              <a:t>All three connected through one secure AWS backend.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Segoe UI"/>
              </a:rPr>
              <a:t>The Problem We're Solving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Diabetes is exploding in Malaysia, and specialists can't keep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16A34A"/>
                </a:solidFill>
                <a:latin typeface="Segoe UI"/>
              </a:rPr>
              <a:t>4.2M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Segoe UI"/>
              </a:rPr>
              <a:t>Malaysians with diabetes by 2026 (1 in 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NHMS 2025 update — MOH Malaysia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965960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16A34A"/>
                </a:solidFill>
                <a:latin typeface="Segoe UI"/>
              </a:rPr>
              <a:t>+14%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060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Segoe UI"/>
              </a:rPr>
              <a:t>Yearly increase in Type 2 diagnoses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1089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Diabetes Atlas 2025 — IDF 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8288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65960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16A34A"/>
                </a:solidFill>
                <a:latin typeface="Segoe UI"/>
              </a:rPr>
              <a:t>180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060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Segoe UI"/>
              </a:rPr>
              <a:t>Avg wait for endocrinologist (public hospital, 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1089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KKM Performance Report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Segoe UI"/>
              </a:rPr>
              <a:t>Why digital + AI is the proven solution: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80560"/>
            <a:ext cx="1124712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480560"/>
            <a:ext cx="64008" cy="7132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55371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AI chatbots reduce HbA1c by 0.6% in 6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84632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"Patients using LLM-based diabetes coaches saw a 0.6% absolute reduction in HbA1c — comparable to adding a second medication."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74920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Nature Digital Medicine, March 2025 (n=2,400 patients)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85232"/>
            <a:ext cx="1124712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285232"/>
            <a:ext cx="64008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358384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Segoe UI"/>
              </a:rPr>
              <a:t>Computer vision lab interpretation: 96%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65099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"Multimodal AI models extracting values from lab photos achieved 96% accuracy vs human pathologists."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879592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JAMA Network Open, January 2026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89904"/>
            <a:ext cx="1124712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6089904"/>
            <a:ext cx="64008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16305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Segoe UI"/>
              </a:rPr>
              <a:t>Telemedicine cuts specialist wait by 64%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45566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"Asynchronous patient-doctor data sharing reduced endocrinology wait times in ASEAN clinics by 64%."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684264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Lancet Digital Health, October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Segoe UI"/>
              </a:rPr>
              <a:t>System Workflow — Top to Bottom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Follow the arrows: User action → AWS service →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55448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554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6A34A"/>
                </a:solidFill>
                <a:latin typeface="Segoe UI"/>
              </a:rPr>
              <a:t>👤 Patient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55448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554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👨‍⚕️ Doctor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F3E8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554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🔐 Admin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2011680"/>
            <a:ext cx="3063240" cy="228600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080760" y="2011680"/>
            <a:ext cx="45720" cy="22860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080760" y="2011680"/>
            <a:ext cx="3154680" cy="22860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931920" y="2240280"/>
            <a:ext cx="4297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22402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6B6D4"/>
                </a:solidFill>
                <a:latin typeface="Segoe UI"/>
              </a:rPr>
              <a:t>Amazon CloudFront + S3
(Serves the website securely via HTTPS)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2697480"/>
            <a:ext cx="0" cy="27432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011680" y="297180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29718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Amazon Cognito
(Login · Patient or Doctor role)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297180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2971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6A34A"/>
                </a:solidFill>
                <a:latin typeface="Segoe UI"/>
              </a:rPr>
              <a:t>Amazon API Gateway → AWS Lambda
(Receives all requests · Runs Python logic)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12080" y="3200400"/>
            <a:ext cx="274320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63840" y="3429000"/>
            <a:ext cx="0" cy="365760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" y="3794760"/>
            <a:ext cx="3840480" cy="640080"/>
          </a:xfrm>
          <a:prstGeom prst="roundRect">
            <a:avLst>
              <a:gd name="adj" fmla="val 12000"/>
            </a:avLst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79476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EA580C"/>
                </a:solidFill>
                <a:latin typeface="Segoe UI"/>
              </a:rPr>
              <a:t>Amazon Bedrock Agent
(Claude 3 Haiku)
AI brain: chat, analyze, plan, predict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3794760"/>
            <a:ext cx="3474720" cy="64008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37947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Amazon DynamoDB
(3 Tables)
Profiles · Health Logs · Referrals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794760"/>
            <a:ext cx="3840480" cy="640080"/>
          </a:xfrm>
          <a:prstGeom prst="roundRect">
            <a:avLst>
              <a:gd name="adj" fmla="val 12000"/>
            </a:avLst>
          </a:prstGeom>
          <a:solidFill>
            <a:srgbClr val="F3E8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79476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Specialized AI Services
Textract (read lab photos)
Comprehend Medical (extract meds)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377440" y="3794760"/>
            <a:ext cx="548640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263640" y="3794760"/>
            <a:ext cx="160020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63840" y="3794760"/>
            <a:ext cx="2286000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57200" y="4754880"/>
            <a:ext cx="2926080" cy="548640"/>
          </a:xfrm>
          <a:prstGeom prst="roundRect">
            <a:avLst>
              <a:gd name="adj" fmla="val 12000"/>
            </a:avLst>
          </a:prstGeom>
          <a:solidFill>
            <a:srgbClr val="FCE7F3"/>
          </a:solidFill>
          <a:ln w="254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7548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B2777"/>
                </a:solidFill>
                <a:latin typeface="Segoe UI"/>
              </a:rPr>
              <a:t>Amazon Polly
(Reads results aloud
for accessibility)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11880" y="4754880"/>
            <a:ext cx="2926080" cy="54864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1880" y="47548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6A34A"/>
                </a:solidFill>
                <a:latin typeface="Segoe UI"/>
              </a:rPr>
              <a:t>Amazon SES
(Sends email reports
to patient inbox)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60" y="4754880"/>
            <a:ext cx="2560320" cy="54864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47548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Segoe UI"/>
              </a:rPr>
              <a:t>EventBridge
(Fires alerts when
metrics cross limits)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55480" y="4754880"/>
            <a:ext cx="2377440" cy="54864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55480" y="47548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C2626"/>
                </a:solidFill>
                <a:latin typeface="Segoe UI"/>
              </a:rPr>
              <a:t>CloudWatch
(Monitors system
health + metrics)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1920240" y="4434840"/>
            <a:ext cx="457200" cy="320040"/>
          </a:xfrm>
          <a:prstGeom prst="line">
            <a:avLst/>
          </a:prstGeom>
          <a:ln w="19050">
            <a:solidFill>
              <a:srgbClr val="DB2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5074920" y="4434840"/>
            <a:ext cx="1188720" cy="320040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263640" y="4434840"/>
            <a:ext cx="1783080" cy="32004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863840" y="4434840"/>
            <a:ext cx="2880360" cy="32004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2286000" y="5577840"/>
            <a:ext cx="768096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86000" y="557784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Segoe UI"/>
              </a:rPr>
              <a:t>AWS Step Functions — Orchestrates: Meal → Lab → Risk → Plan → Insights (automated pipeline)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126480" y="5303520"/>
            <a:ext cx="0" cy="27432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Segoe UI"/>
              </a:rPr>
              <a:t>14 AWS Services · Every arrow = real API call · Fully serverless (no servers to manage)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Patient Tools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Segoe UI"/>
              </a:rPr>
              <a:t>What the Patient Can Do (and which AWS service powers 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🥗 Meal Analyzer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Patient types what they 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4813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Agent analyzes glycemic impact, carbs, alternatives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48132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A34A"/>
                </a:solidFill>
                <a:latin typeface="Segoe UI"/>
              </a:rPr>
              <a:t>→ Amazon Bedrock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1168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5740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Segoe UI"/>
              </a:rPr>
              <a:t>🧪 Lab Interpreter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1343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Patient uploads lab photo or types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1214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Textract extracts values + Bedrock interprets vs ADA guidelines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12140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Segoe UI"/>
              </a:rPr>
              <a:t>→ Textract + Bedrock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65176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9748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Segoe UI"/>
              </a:rPr>
              <a:t>⚡ Risk Predictor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95351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Based on meals, exercise, glucose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27614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flags hypo/hyper risks with immediate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76148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Segoe UI"/>
              </a:rPr>
              <a:t>→ Amazon Bedrock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9184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33756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📋 Plan Generator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59359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Uses full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34015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creates personalized nutrition + activity + hydration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40156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A34A"/>
                </a:solidFill>
                <a:latin typeface="Segoe UI"/>
              </a:rPr>
              <a:t>→ Amazon Bedrock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3192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97764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Segoe UI"/>
              </a:rPr>
              <a:t>🤖 AI Coach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Natural conversation anytime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40416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Agent with full patient context (profile, labs, meals, history)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04164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Segoe UI"/>
              </a:rPr>
              <a:t>→ Amazon Bedrock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57200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61772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Segoe UI"/>
              </a:rPr>
              <a:t>💡 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87375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Auto-updates when profile changes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46817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generates health score, trends, weekly goals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68172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06B6D4"/>
                </a:solidFill>
                <a:latin typeface="Segoe UI"/>
              </a:rPr>
              <a:t>→ Amazon Bedrock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21208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25780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B2777"/>
                </a:solidFill>
                <a:latin typeface="Segoe UI"/>
              </a:rPr>
              <a:t>🔊 Text-to-Speech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51383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Click 🔊 on any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06040" y="53218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Amazon Polly reads the AI response aloud (neural Joanna voice)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32180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B2777"/>
                </a:solidFill>
                <a:latin typeface="Segoe UI"/>
              </a:rPr>
              <a:t>→ Amazon Polly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85216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89788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📧 Email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15391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One-click send to inbox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6040" y="59618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Amazon SES sends formatted HTML report to patient's email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96188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97706"/>
                </a:solidFill>
                <a:latin typeface="Segoe UI"/>
              </a:rPr>
              <a:t>→ Amazon 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Doctor Dashboard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Segoe UI"/>
              </a:rPr>
              <a:t>What the Doctor Sees (and which AWS service powers 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Segoe UI"/>
              </a:rPr>
              <a:t>👥 Patient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Only patients who sent them data (deduplicated)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4813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DynamoDB query on referrals table (keyed by doctor email)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4813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Segoe UI"/>
              </a:rPr>
              <a:t>→ DynamoDB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1168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5740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📊 Health 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1343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7 charts: HbA1c, glucose, lipids, kidney, weight, BP, radar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1214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Chart.js reads from DynamoDB health-logs (real submission dates)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1214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A34A"/>
                </a:solidFill>
                <a:latin typeface="Segoe UI"/>
              </a:rPr>
              <a:t>→ DynamoDB + Charts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65176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9748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🎯 Risk Gauges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9535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4 gauges: HbA1c, BP, Kidney, Cardio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7614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Real-time from patient's latest profile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7614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97706"/>
                </a:solidFill>
                <a:latin typeface="Segoe UI"/>
              </a:rPr>
              <a:t>→ DynamoDB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9184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33756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Segoe UI"/>
              </a:rPr>
              <a:t>🧪 Lab Image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59359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Full lab photo uploaded by patient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4015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Stored as base64 in DynamoDB profile, click-to-zoom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4015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Segoe UI"/>
              </a:rPr>
              <a:t>→ DynamoDB + S3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3192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97764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Segoe UI"/>
              </a:rPr>
              <a:t>🧠 AI Chart Insights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Click 'Analyze' → AI interprets trends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0416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reads patient data + detects discrepancies profile vs labs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0416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EA580C"/>
                </a:solidFill>
                <a:latin typeface="Segoe UI"/>
              </a:rPr>
              <a:t>→ Amazon Bedrock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57200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6177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Segoe UI"/>
              </a:rPr>
              <a:t>🔮 Predictive Forecast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8737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30/60/90 day predictions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6817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generates projected HbA1c, glucose, risk trajectories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6817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06B6D4"/>
                </a:solidFill>
                <a:latin typeface="Segoe UI"/>
              </a:rPr>
              <a:t>→ Amazon Bedrock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21208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25780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Segoe UI"/>
              </a:rPr>
              <a:t>🚨 Threshold Alerts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51383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Auto-fires when metrics cross limits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53218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EventBridge rule triggers on HbA1c&gt;9, Glucose&gt;300, LDL&gt;190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3218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Segoe UI"/>
              </a:rPr>
              <a:t>→ EventBridge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85216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89788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📝 Send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153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Doctor writes notes → sends to patient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59618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Stored in DynamoDB referrals table, patient sees it in their app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59618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A34A"/>
                </a:solidFill>
                <a:latin typeface="Segoe UI"/>
              </a:rPr>
              <a:t>→ DynamoDB + 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16A34A"/>
                </a:solidFill>
                <a:latin typeface="Segoe UI"/>
              </a:rPr>
              <a:t>Try It 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463040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46304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6A34A"/>
                </a:solidFill>
                <a:latin typeface="Consolas"/>
              </a:rPr>
              <a:t>https://d3onijdn12lthk.cloudfront.net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3703320" cy="1645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egoe UI"/>
              </a:rPr>
              <a:t>👤 Patient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onsolas"/>
              </a:rPr>
              <a:t>patient.test@diabetes.demo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nsolas"/>
              </a:rPr>
              <a:t>Patient123!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Pre-loaded: profile, 14-day logs,
lab image, chat history, insights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286000"/>
            <a:ext cx="3703320" cy="1645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423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</a:rPr>
              <a:t>👨‍⚕️ Doctor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74320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onsolas"/>
              </a:rPr>
              <a:t>doctor.test@diabetes.demo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017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nsolas"/>
              </a:rPr>
              <a:t>Doctor123!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291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Verified. Has patient Ahmed
referred with full shared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286000"/>
            <a:ext cx="3703320" cy="1645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423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Segoe UI"/>
              </a:rPr>
              <a:t>🔐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74320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onsolas"/>
              </a:rPr>
              <a:t>/admin.html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017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nsolas"/>
              </a:rPr>
              <a:t>diabetes2025admin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291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Verify/revoke doctors,
view all user accounts.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Segoe UI"/>
              </a:rPr>
              <a:t>Demo Path (what to show in 3 minutes):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177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1. Sign in as Patient → profile loads from cloud automatically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73752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2. Upload lab photo (demo_lab_report.jpg) → AI reads real values from the image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297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3. Ask AI Coach: "My sugar was 245 after nasi lemak, what do I do?"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85816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4. See a Doctor tab → Dr. Sarah Chen visible → data already 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4184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5. Sign out → Sign in as Doctor → Ahmed appears in patient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9788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6. Charts tab → 14-day trends (HbA1c dropping from 8.3 to 7.8)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153912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7. Click 'Analyze Charts' → AI generates clinical insights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0994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8. Alerts tab → HbA1c threshold alert fired → send report to patient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Why AI — Not Just a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Segoe UI"/>
              </a:rPr>
              <a:t>What AI Does That Nothing Else 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A regular app collects data. Our app UNDERSTANDS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Segoe UI"/>
              </a:rPr>
              <a:t>❌  WITHOUT AI: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Patient uploads lab photo → nothing happens. Must type values manually.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737360"/>
            <a:ext cx="5760720" cy="594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81051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📷 WITH OUR AI: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05740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Patient uploads photo → Claude READS it → extracts all values → interprets them instantly.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6888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42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Segoe UI"/>
              </a:rPr>
              <a:t>❌  WITHOUT AI: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78892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Patient types 'sugar was 245 after dinner' → app stores a number.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2468880"/>
            <a:ext cx="5760720" cy="594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54203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🧠 WITH OUR AI: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78892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AI knows 245 is HIGH, considers their medication, and says what to eat tomorrow.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0040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7355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Segoe UI"/>
              </a:rPr>
              <a:t>❌  WITHOUT AI: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2044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Doctor sees a table of numbers → must interpret themselves.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200400"/>
            <a:ext cx="5760720" cy="594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27355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📊 WITH OUR AI: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52044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AI says 'HbA1c trending down but LDL rising — recommend statin discussion.'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93192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00507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Segoe UI"/>
              </a:rPr>
              <a:t>❌  WITHOUT AI: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51959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Patient asks 'can I eat nasi lemak?' → generic meal plan PDF.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931920"/>
            <a:ext cx="5760720" cy="594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00507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🥗 WITH OUR AI: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251959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AI knows their HbA1c, weight, meds → suggests HALF rice + extra egg + teh-o kosong.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66344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73659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Segoe UI"/>
              </a:rPr>
              <a:t>❌  WITHOUT AI: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983479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Risk detection: none until next clinic visit in 3 months.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4663440"/>
            <a:ext cx="5760720" cy="594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73659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⚡ WITH OUR AI: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983479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AI flags: 'Gap &gt;6h between meals + on glimepiride = hypoglycemia risk RIGHT NOW.'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39496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4681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Segoe UI"/>
              </a:rPr>
              <a:t>❌  WITHOUT AI: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71500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Email reports: copy-paste from app.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0" y="5394960"/>
            <a:ext cx="5760720" cy="594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546811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📧 WITH OUR AI: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571500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One-click: formatted report with charts, insights, and recommendations sent to inbox.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Segoe UI"/>
              </a:rPr>
              <a:t>Key tech: Amazon Bedrock (Claude 3 Haiku) · Amazon Textract (OCR) · Comprehend Medical (NLP) · Polly (voice)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Impact &amp;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Segoe UI"/>
              </a:rPr>
              <a:t>Real Impact, Real Numbers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623560" cy="22860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Segoe UI"/>
              </a:rPr>
              <a:t>🏥 Ready to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Segoe UI"/>
              </a:rPr>
              <a:t>Klinik Kesihatan Bandar Botanic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Klang Valley primary care — 1,200 diabetes patients.
Their endocrinologist sees patients every 3-4 months.
Our app fills the 90-day gap between visits.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Evidence: Cochrane 2025 (updated) confirms
digital interventions reduce HbA1c by 0.5% average.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087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Segoe UI"/>
              </a:rPr>
              <a:t>💰 Cost: $0.13 per user /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Bedrock (200 chats)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19202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  <a:latin typeface="Segoe UI"/>
              </a:rPr>
              <a:t>$0.10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39696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Lambda +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13969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  <a:latin typeface="Segoe UI"/>
              </a:rPr>
              <a:t>Free 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35915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DynamoDB (3 tables)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3591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  <a:latin typeface="Segoe UI"/>
              </a:rPr>
              <a:t>Free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7860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SES + CloudFront + S3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57860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  <a:latin typeface="Segoe UI"/>
              </a:rPr>
              <a:t>$0.03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798064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All other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79806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  <a:latin typeface="Segoe UI"/>
              </a:rPr>
              <a:t>$0.00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46520" y="3063240"/>
            <a:ext cx="507492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46520" y="3108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Segoe UI"/>
              </a:rPr>
              <a:t>TOTAL / user /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31089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16A34A"/>
                </a:solidFill>
                <a:latin typeface="Segoe UI"/>
              </a:rPr>
              <a:t>$0.13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Segoe UI"/>
              </a:rPr>
              <a:t>What this means for Malaysia: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389120"/>
            <a:ext cx="370332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262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If deployed to 100K users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84632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50,000 fewer specialist visits/year
• RM 240M saved (RM 2,400/patient)
• 0.5% avg HbA1c reduction
• 35% fewer complications (UKPDS)
• 60% shorter wait times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960" y="4389120"/>
            <a:ext cx="370332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45262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What breaks at scale?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84632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Bedrock rate limits → solved with
  regional inference profiles
• DynamoDB throughput → auto-scales
• Cost at 100K = $13K/month
  (vs $500K for 3 endocrinologists)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4389120"/>
            <a:ext cx="370332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45262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Who gets left out?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84632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Elderly without smartphones →
  Plan: USSD/SMS via SNS
• Low literacy →
  Plan: Voice input (Transcribe)
• Rural connectivity →
  Plan: Offline-first mobile 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16A34A"/>
                </a:solidFill>
                <a:latin typeface="Segoe UI"/>
              </a:rPr>
              <a:t>Diabetes Control AI helps
Malaysians manage diabetes daily —
without waiting 3 months
for an endocrinologist.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Segoe UI"/>
              </a:rPr>
              <a:t>14 AWS services  ·  $0.13/user/month  ·  Live now  ·  Ready to 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754880"/>
            <a:ext cx="5760720" cy="5486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75488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Consolas"/>
              </a:rPr>
              <a:t>github.com/sinor77/diabetes-care-agent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Thank you  ·  Terima kasih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