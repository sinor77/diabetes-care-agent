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94960" y="1097280"/>
            <a:ext cx="1371600" cy="1371600"/>
          </a:xfrm>
          <a:prstGeom prst="roundRect">
            <a:avLst>
              <a:gd name="adj" fmla="val 2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94960" y="1097280"/>
            <a:ext cx="13716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16A34A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  <a:latin typeface="Segoe UI"/>
              </a:rPr>
              <a:t>A digital diabetes assistant for everyone in Malaysia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Segoe UI"/>
              </a:rPr>
              <a:t>Three roles · One platform · Powered by Amazon Bedrock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Segoe UI"/>
              </a:rPr>
              <a:t>AWS CendekiAwan 2.0  ·  MMU Showcase  ·  24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Segoe UI"/>
              </a:rPr>
              <a:t>What is Diabetes Control AI?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Segoe UI"/>
              </a:rPr>
              <a:t>In one sentence: A diabetes app where patients get instant AI help, and connect to verified doctors when they need a human.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3703320" cy="41148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370332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94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Segoe UI"/>
              </a:rPr>
              <a:t>👤  PATIENT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97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Segoe UI"/>
              </a:rPr>
              <a:t>Who: Anyone with diabetes (or pre-diabetes)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0896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Save personal profile (HbA1c, weight, meds)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Upload lab photo → AI reads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9417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Log meals → get glycemic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8678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Chat with AI Coach 24/7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7939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Send health data to a doctor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7200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Receive doctor's clinical reports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2011680"/>
            <a:ext cx="370332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2011680"/>
            <a:ext cx="37033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194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Segoe UI"/>
              </a:rPr>
              <a:t>👨‍⚕️  DOCTOR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697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Segoe UI"/>
              </a:rPr>
              <a:t>Who: Verified physicians (admin-approved)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10896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See patients who referred them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40156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View 14-day health charts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69417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Read patient's AI insights &amp; labs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98678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Receive automatic risk alerts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27939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Send clinical notes back to patient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57200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Click-to-zoom on lab images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2011680"/>
            <a:ext cx="370332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2011680"/>
            <a:ext cx="37033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2194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Segoe UI"/>
              </a:rPr>
              <a:t>🔐  ADMIN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697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Segoe UI"/>
              </a:rPr>
              <a:t>Who: System operator (you)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10896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Verify doctor credentials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40156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Revoke fake/malicious doctors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69417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Monitor all users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98678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View pending verification queue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27939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System health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57200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Doctor approval workflow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Segoe UI"/>
              </a:rPr>
              <a:t>All three connected through one secure AWS backend.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Why this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Segoe UI"/>
              </a:rPr>
              <a:t>The Problem We're Solving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Segoe UI"/>
              </a:rPr>
              <a:t>Diabetes is exploding in Malaysia, and specialists can't keep 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16A34A"/>
                </a:solidFill>
                <a:latin typeface="Segoe UI"/>
              </a:rPr>
              <a:t>4.2M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Segoe UI"/>
              </a:rPr>
              <a:t>Malaysians with diabetes by 2026 (1 in 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Segoe UI"/>
              </a:rPr>
              <a:t>NHMS 2025 update — MOH Malaysia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8288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965960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16A34A"/>
                </a:solidFill>
                <a:latin typeface="Segoe UI"/>
              </a:rPr>
              <a:t>+14%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6060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Segoe UI"/>
              </a:rPr>
              <a:t>Yearly increase in Type 2 diagnoses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1089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Segoe UI"/>
              </a:rPr>
              <a:t>Diabetes Atlas 2025 — IDF report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8288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965960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16A34A"/>
                </a:solidFill>
                <a:latin typeface="Segoe UI"/>
              </a:rPr>
              <a:t>180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060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Segoe UI"/>
              </a:rPr>
              <a:t>Avg wait for endocrinologist (public hospital, 2025)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1089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Segoe UI"/>
              </a:rPr>
              <a:t>KKM Performance Report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Segoe UI"/>
              </a:rPr>
              <a:t>Why digital + AI is the proven solution: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80560"/>
            <a:ext cx="11247120" cy="7132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480560"/>
            <a:ext cx="64008" cy="7132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553712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AI chatbots reduce HbA1c by 0.6% in 6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846320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"Patients using LLM-based diabetes coaches saw a 0.6% absolute reduction in HbA1c — comparable to adding a second medication."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074920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Nature Digital Medicine, March 2025 (n=2,400 patients)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285232"/>
            <a:ext cx="11247120" cy="7132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285232"/>
            <a:ext cx="64008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358384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Segoe UI"/>
              </a:rPr>
              <a:t>Computer vision lab interpretation: 96% 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65099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"Multimodal AI models extracting values from lab photos achieved 96% accuracy vs human pathologists."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879592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JAMA Network Open, January 2026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89904"/>
            <a:ext cx="11247120" cy="7132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6089904"/>
            <a:ext cx="64008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616305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Segoe UI"/>
              </a:rPr>
              <a:t>Telemedicine cuts specialist wait by 64%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455664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"Asynchronous patient-doctor data sharing reduced endocrinology wait times in ASEAN clinics by 64%."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684264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Lancet Digital Health, October 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Segoe UI"/>
              </a:rPr>
              <a:t>How It Works — Step by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37160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Segoe UI"/>
              </a:rPr>
              <a:t>STEP 1
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37160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371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6A34A"/>
                </a:solidFill>
                <a:latin typeface="Segoe UI"/>
              </a:rPr>
              <a:t>Patient App
Profile · AI Tools · Send to 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371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Doctor Dashboard
Charts · Alerts · Reports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37160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3E8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1371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Admin Panel
Verify Doctors ·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1874519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Segoe UI"/>
              </a:rPr>
              <a:t>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14884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Segoe UI"/>
              </a:rPr>
              <a:t>STEP 2
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148840"/>
            <a:ext cx="941832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2148840"/>
            <a:ext cx="9418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6B6D4"/>
                </a:solidFill>
                <a:latin typeface="Segoe UI"/>
              </a:rPr>
              <a:t>Amazon CloudFront (HTTPS CDN) + Amazon S3 (Website Hosting)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6060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Segoe UI"/>
              </a:rP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283464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Segoe UI"/>
              </a:rPr>
              <a:t>STEP 3
Auth+API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283464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3E8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28346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Amazon Cognito
Login · Role: Patient or Doctor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035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2834640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0" y="28346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6A34A"/>
                </a:solidFill>
                <a:latin typeface="Segoe UI"/>
              </a:rPr>
              <a:t>API Gateway + Lambda
14 endpoints · Python 3.13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3375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Segoe UI"/>
              </a:rPr>
              <a:t>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361188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Segoe UI"/>
              </a:rPr>
              <a:t>STEP 4
Core AI
&amp;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3566160"/>
            <a:ext cx="2606040" cy="685800"/>
          </a:xfrm>
          <a:prstGeom prst="roundRect">
            <a:avLst>
              <a:gd name="adj" fmla="val 12000"/>
            </a:avLst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3566160"/>
            <a:ext cx="2606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EA580C"/>
                </a:solidFill>
                <a:latin typeface="Segoe UI"/>
              </a:rPr>
              <a:t>Amazon Bedrock
(Claude 3 Haiku)
Chat · Meal · Risk
Plan · Lab · Coach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86200" y="3566160"/>
            <a:ext cx="2606040" cy="6858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3566160"/>
            <a:ext cx="2606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Amazon DynamoDB
(3 Tables)
Profiles · Logs
Referrals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356616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3E8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356616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Textract + Comprehend
Medical
Reads lab photos
Extracts meds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56616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CE7F3"/>
          </a:solidFill>
          <a:ln w="254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356616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DB2777"/>
                </a:solidFill>
                <a:latin typeface="Segoe UI"/>
              </a:rPr>
              <a:t>Amazon Polly
(Text-to-Speech)
Reads results
aloud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2976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Segoe UI"/>
              </a:rPr>
              <a:t>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457200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Segoe UI"/>
              </a:rPr>
              <a:t>STEP 5
Output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97280" y="4526280"/>
            <a:ext cx="2606040" cy="50292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452628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6A34A"/>
                </a:solidFill>
                <a:latin typeface="Segoe UI"/>
              </a:rPr>
              <a:t>Amazon SES
Email reports
to patient inbox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86200" y="4526280"/>
            <a:ext cx="2606040" cy="50292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86200" y="452628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  <a:latin typeface="Segoe UI"/>
              </a:rPr>
              <a:t>EventBridge
Alerts when HbA1c&gt;9%
or glucose&gt;300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75120" y="4526280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452628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  <a:latin typeface="Segoe UI"/>
              </a:rPr>
              <a:t>Step Functions
Pipeline: Meal→Lab→Risk→Plan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4526280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0" y="452628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DC2626"/>
                </a:solidFill>
                <a:latin typeface="Segoe UI"/>
              </a:rPr>
              <a:t>CloudWatch
Monitor API calls
Latency + Errors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257800"/>
            <a:ext cx="11247120" cy="128016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34924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Segoe UI"/>
              </a:rPr>
              <a:t>Data Flow: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57784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1. Patient signs in (Cognito) → saves profile (DynamoDB) → each save logs a time-stamped health metric
2. Patient uploads lab photo → Textract reads it → Bedrock interprets values → saved
3. Patient selects data to share (checkboxes) → sends referral to Doctor (DynamoDB)
4. Doctor signs in → sees referred patients → charts render from health-logs → AI analyzes trends
5. Doctor writes notes → report sent back to patient (DynamoDB + SES)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Patient Tools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Segoe UI"/>
              </a:rPr>
              <a:t>What the Patient Can Do (and which AWS service powers it)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1732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🥗 Meal Analyzer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7335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Patient types what they 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4813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Agent analyzes glycemic impact, carbs, alternatives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48132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16A34A"/>
                </a:solidFill>
                <a:latin typeface="Segoe UI"/>
              </a:rPr>
              <a:t>→ Amazon Bedrock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01168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05740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Segoe UI"/>
              </a:rPr>
              <a:t>🧪 Lab Interpreter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31343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Patient uploads lab photo or types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1214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Textract extracts values + Bedrock interprets vs ADA guidelines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12140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Segoe UI"/>
              </a:rPr>
              <a:t>→ Textract + Bedrock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65176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9748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Segoe UI"/>
              </a:rPr>
              <a:t>⚡ Risk Predictor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95351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Based on meals, exercise, glucose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27614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flags hypo/hyper risks with immediate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76148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DC2626"/>
                </a:solidFill>
                <a:latin typeface="Segoe UI"/>
              </a:rPr>
              <a:t>→ Amazon Bedrock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9184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33756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📋 Plan Generator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59359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Uses full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34015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creates personalized nutrition + activity + hydration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40156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16A34A"/>
                </a:solidFill>
                <a:latin typeface="Segoe UI"/>
              </a:rPr>
              <a:t>→ Amazon Bedrock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93192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97764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Segoe UI"/>
              </a:rPr>
              <a:t>🤖 AI Coach Chat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23367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Natural conversation anytime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40416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Agent with full patient context (profile, labs, meals, history)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04164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Segoe UI"/>
              </a:rPr>
              <a:t>→ Amazon Bedrock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57200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61772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Segoe UI"/>
              </a:rPr>
              <a:t>💡 Insights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87375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Auto-updates when profile changes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40" y="46817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generates health score, trends, weekly goals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68172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06B6D4"/>
                </a:solidFill>
                <a:latin typeface="Segoe UI"/>
              </a:rPr>
              <a:t>→ Amazon Bedrock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21208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25780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B2777"/>
                </a:solidFill>
                <a:latin typeface="Segoe UI"/>
              </a:rPr>
              <a:t>🔊 Text-to-Speech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51383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Click 🔊 on any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06040" y="53218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Amazon Polly reads the AI response aloud (neural Joanna voice)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532180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DB2777"/>
                </a:solidFill>
                <a:latin typeface="Segoe UI"/>
              </a:rPr>
              <a:t>→ Amazon Polly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85216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589788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Segoe UI"/>
              </a:rPr>
              <a:t>📧 Email Report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15391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One-click send to inbox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06040" y="59618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Amazon SES sends formatted HTML report to patient's email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596188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D97706"/>
                </a:solidFill>
                <a:latin typeface="Segoe UI"/>
              </a:rPr>
              <a:t>→ Amazon 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Doctor Dashboard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Segoe UI"/>
              </a:rPr>
              <a:t>What the Doctor Sees (and which AWS service powers it)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173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Segoe UI"/>
              </a:rPr>
              <a:t>👥 Patient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7335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Only patients who sent them data (deduplicated)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4813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DynamoDB query on referrals table (keyed by doctor email)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4813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Segoe UI"/>
              </a:rPr>
              <a:t>→ DynamoDB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01168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05740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📊 Health Charts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31343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7 charts: HbA1c, glucose, lipids, kidney, weight, BP, radar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1214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Chart.js reads from DynamoDB health-logs (real submission dates)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1214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16A34A"/>
                </a:solidFill>
                <a:latin typeface="Segoe UI"/>
              </a:rPr>
              <a:t>→ DynamoDB + Charts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65176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9748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Segoe UI"/>
              </a:rPr>
              <a:t>🎯 Risk Gauges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9535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4 gauges: HbA1c, BP, Kidney, Cardio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7614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Real-time from patient's latest profile values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7614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D97706"/>
                </a:solidFill>
                <a:latin typeface="Segoe UI"/>
              </a:rPr>
              <a:t>→ DynamoDB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9184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33756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Segoe UI"/>
              </a:rPr>
              <a:t>🧪 Lab Image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59359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Full lab photo uploaded by patient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34015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Stored as base64 in DynamoDB profile, click-to-zoom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4015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Segoe UI"/>
              </a:rPr>
              <a:t>→ DynamoDB + S3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93192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97764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Segoe UI"/>
              </a:rPr>
              <a:t>🧠 AI Chart Insights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23367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Click 'Analyze' → AI interprets trends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0416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reads patient data + detects discrepancies profile vs labs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40416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EA580C"/>
                </a:solidFill>
                <a:latin typeface="Segoe UI"/>
              </a:rPr>
              <a:t>→ Amazon Bedrock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57200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6177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Segoe UI"/>
              </a:rPr>
              <a:t>🔮 Predictive Forecast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87375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30/60/90 day predictions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46817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Bedrock generates projected HbA1c, glucose, risk trajectories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46817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06B6D4"/>
                </a:solidFill>
                <a:latin typeface="Segoe UI"/>
              </a:rPr>
              <a:t>→ Amazon Bedrock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21208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25780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Segoe UI"/>
              </a:rPr>
              <a:t>🚨 Threshold Alerts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51383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Auto-fires when metrics cross limits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0" y="53218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EventBridge rule triggers on HbA1c&gt;9, Glucose&gt;300, LDL&gt;190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53218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DC2626"/>
                </a:solidFill>
                <a:latin typeface="Segoe UI"/>
              </a:rPr>
              <a:t>→ EventBridge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85216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589788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📝 Send Report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153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Doctor writes notes → sends to patient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0" y="59618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/>
              </a:rPr>
              <a:t>Stored in DynamoDB referrals table, patient sees it in their app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59618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16A34A"/>
                </a:solidFill>
                <a:latin typeface="Segoe UI"/>
              </a:rPr>
              <a:t>→ DynamoDB + 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16A34A"/>
                </a:solidFill>
                <a:latin typeface="Segoe UI"/>
              </a:rPr>
              <a:t>Try It Now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463040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463040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6A34A"/>
                </a:solidFill>
                <a:latin typeface="Consolas"/>
              </a:rPr>
              <a:t>https://d3onijdn12lthk.cloudfront.net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86000"/>
            <a:ext cx="3703320" cy="16459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Segoe UI"/>
              </a:rPr>
              <a:t>👤 Patient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4320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Consolas"/>
              </a:rPr>
              <a:t>patient.test@diabetes.demo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nsolas"/>
              </a:rPr>
              <a:t>Patient123!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Pre-loaded: profile, 14-day logs,
lab image, chat history, insights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2286000"/>
            <a:ext cx="3703320" cy="16459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423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Segoe UI"/>
              </a:rPr>
              <a:t>👨‍⚕️ Doctor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74320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Consolas"/>
              </a:rPr>
              <a:t>doctor.test@diabetes.demo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0175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nsolas"/>
              </a:rPr>
              <a:t>Doctor123!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2918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Verified. Has patient Ahmed
referred with full shared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286000"/>
            <a:ext cx="3703320" cy="16459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423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Segoe UI"/>
              </a:rPr>
              <a:t>🔐 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74320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Consolas"/>
              </a:rPr>
              <a:t>/admin.html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0175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nsolas"/>
              </a:rPr>
              <a:t>diabetes2025admin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2918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Verify/revoke doctors,
view all user accounts.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Segoe UI"/>
              </a:rPr>
              <a:t>Demo Path (what to show in 3 minutes):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61772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1. Sign in as Patient → profile loads from cloud automatically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73752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2. Upload lab photo (demo_lab_report.jpg) → AI reads real values from the image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1297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3. Ask AI Coach: "My sugar was 245 after nasi lemak, what do I do?"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85816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4. See a Doctor tab → Dr. Sarah Chen visible → data already sent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4184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5. Sign out → Sign in as Doctor → Ahmed appears in patient 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9788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6. Charts tab → 14-day trends (HbA1c dropping from 8.3 to 7.8)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153912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7. Click 'Analyze Charts' → AI generates clinical insights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0994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8. Alerts tab → HbA1c threshold alert fired → send report to patient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Why AI?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Segoe UI"/>
              </a:rPr>
              <a:t>Regular App vs Our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Segoe UI"/>
              </a:rPr>
              <a:t>A form collects data. Our AI understands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Segoe UI"/>
              </a:rPr>
              <a:t>❌  Without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373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Segoe UI"/>
              </a:rPr>
              <a:t>✅  With Our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94560"/>
            <a:ext cx="5577840" cy="77724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Patient uploads lab photo
→ Must type values manually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94560"/>
            <a:ext cx="5577840" cy="77724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AI reads the photo
→ Extracts all values instantly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63239"/>
            <a:ext cx="5577840" cy="77724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54679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Sugar was 245 after dinner
→ App stores the number 245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063239"/>
            <a:ext cx="5577840" cy="77724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154679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Knows 245 is HIGH for this patient
→ Tells them what to eat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5577840" cy="77724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023359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Doctor sees a table of numbers
→ Must interpret alone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931920"/>
            <a:ext cx="5577840" cy="77724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023359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AI says: HbA1c dropping but LDL rising
→ Recommend statin discussion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00600"/>
            <a:ext cx="5577840" cy="77724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9204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Can I eat nasi lemak?
→ Generic PDF advice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800600"/>
            <a:ext cx="5577840" cy="77724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89204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Knows their weight, meds, HbA1c
→ Half rice + extra egg + teh-o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669280"/>
            <a:ext cx="5577840" cy="77724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76072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Risk detection
→ Nothing until next visit (3 months)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5669280"/>
            <a:ext cx="5577840" cy="77724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76072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Flags: meal gap + medication
→ Hypo risk RIGHT NOW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Segoe UI"/>
              </a:rPr>
              <a:t>Powered by: Amazon Bedrock (Claude 3 Haiku) + Textract + Comprehend Medical + Polly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Real-World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Segoe UI"/>
              </a:rPr>
              <a:t>How It Changes One Life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11247120" cy="237744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Segoe UI"/>
              </a:rPr>
              <a:t>Encik Razak, 55 — Taxi driver in Petaling Jaya — Type 2 diabetes, 6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Segoe UI"/>
              </a:rPr>
              <a:t>❌  BEFORE (no app):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Eats nasi lemak every morning, sugar spikes to 240
• Doesn't know which foods are safe
• Next specialist appointment: 4 months away
• Forgot to take medication twice this week
• HbA1c stuck at 8.2% for 2 years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373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✅  AFTER (with our app):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011680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AI Coach: “Half rice + extra egg + teh-o kosong”
• Uploads lab photo → AI flags high LDL instantly
• Sends data to Dr. Sarah → she adjusts plan same day
• Daily plan reminds medication timing
• HbA1c drops to 7.4% in 3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Segoe UI"/>
              </a:rPr>
              <a:t>Result: Encik Razak avoids kidney complications, saves RM 2,400/year in hospital visits, and feels in control for the first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5577840" cy="24688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Segoe UI"/>
              </a:rPr>
              <a:t>🏥  Ready to 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5196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Segoe UI"/>
              </a:rPr>
              <a:t>Klinik Kesihatan Bandar Botanic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1772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• 1,200 diabetes patients on file
• Endocrinologist visits every 3-4 months
• Our app fills the 90-day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9496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Backup: MOH Klinik Komuniti, NADI,
Persatuan Diabetes Malaysia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840480"/>
            <a:ext cx="5577840" cy="24688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9319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Segoe UI"/>
              </a:rPr>
              <a:t>💰  Cost per User / 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976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Bedrock (200 chats)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429768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E293B"/>
                </a:solidFill>
                <a:latin typeface="Segoe UI"/>
              </a:rPr>
              <a:t>$0.10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5262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Lambda + API Gateway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52628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E293B"/>
                </a:solidFill>
                <a:latin typeface="Segoe UI"/>
              </a:rPr>
              <a:t>Free tier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7548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DynamoDB (3 tables)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475488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E293B"/>
                </a:solidFill>
                <a:latin typeface="Segoe UI"/>
              </a:rPr>
              <a:t>Free tier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9834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SES + CloudFront + S3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498348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E293B"/>
                </a:solidFill>
                <a:latin typeface="Segoe UI"/>
              </a:rPr>
              <a:t>$0.03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349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Segoe UI"/>
              </a:rPr>
              <a:t>TOTAL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5349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16A34A"/>
                </a:solidFill>
                <a:latin typeface="Segoe UI"/>
              </a:rPr>
              <a:t>$0.13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Less than half a ringgit per month.
Sustainable without external funding.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Segoe UI"/>
              </a:rPr>
              <a:t>At 100K users: 50K fewer specialist visits/year • RM 240M saved • 35% fewer complications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4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Privacy &amp;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Segoe UI"/>
              </a:rPr>
              <a:t>How We Protect Patient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Segoe UI"/>
              </a:rPr>
              <a:t>Healthcare data is sensitive. Here's how we keep it safe at every layer.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64008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373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Segoe UI"/>
              </a:rPr>
              <a:t>🔐 Authentication &amp; Access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574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Amazon Cognito: email-verified sign-up
• Role-based: Patient cannot access Doctor dashboard
• Doctor accounts require Admin verification before appearing
• Session tokens expire after 30 minutes of inactivity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4592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645920"/>
            <a:ext cx="64008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7373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Segoe UI"/>
              </a:rPr>
              <a:t>🔒 Data Encryption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574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HTTPS everywhere (CloudFront TLS 1.3)
• DynamoDB encryption at rest (AES-256, AWS-managed keys)
• Data isolated per user (email = partition key)
• No cross-account data access possible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1752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017520"/>
            <a:ext cx="64008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1089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Segoe UI"/>
              </a:rPr>
              <a:t>🛡️ AI Safety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4290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System prompt forbids medication dose changes
• Temperature 0.3 = factual, low-hallucination responses
• Crisis detection: redirects to emergency services
• Disclaimer on every output: 'Not a replacement for your doctor'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01752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017520"/>
            <a:ext cx="64008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1089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Segoe UI"/>
              </a:rPr>
              <a:t>📍 Data Residency &amp; 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4290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All data stays in ap-southeast-1 (Singapore)
• No data leaves ASEAN region
• AWS is HIPAA-eligible and SOC 2 certified
• Designed for future PDPA (Malaysia) compliance
• No patient data used to train AI models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38912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389120"/>
            <a:ext cx="64008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48055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Segoe UI"/>
              </a:rPr>
              <a:t>👁️ Doctor Access Controls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8006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Doctor only sees patients who CHOSE to share
• Patients select what to share (checkboxes)
• Doctor cannot access other doctors' patients
• Admin can revoke doctor access instantly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38912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389120"/>
            <a:ext cx="64008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48055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Segoe UI"/>
              </a:rPr>
              <a:t>📊 Monitoring &amp; Audit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8006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Segoe UI"/>
              </a:rPr>
              <a:t>• CloudWatch logs every API call
• All actions timestamped in DynamoDB
• Admin can see who accessed what
• EventBridge detects unusual patterns
• No data is ever permanently deleted without consent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760720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85216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Key Principle: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Segoe UI"/>
              </a:rPr>
              <a:t>The patient owns their data. They choose what to share, with whom, and can delete it anytime.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16A34A"/>
                </a:solidFill>
                <a:latin typeface="Segoe UI"/>
              </a:rPr>
              <a:t>Diabetes Control AI helps
Malaysians manage diabetes daily —
without waiting 3 months
for an endocrinologist.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Segoe UI"/>
              </a:rPr>
              <a:t>14 AWS services  ·  $0.13/user/month  ·  Live now  ·  Ready to 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754880"/>
            <a:ext cx="5760720" cy="5486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4754880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Consolas"/>
              </a:rPr>
              <a:t>github.com/sinor77/diabetes-care-agent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Segoe UI"/>
              </a:rPr>
              <a:t>Thank you  ·  Terima kasih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