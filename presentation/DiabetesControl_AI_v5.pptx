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0" y="1097280"/>
            <a:ext cx="1371600" cy="1371600"/>
          </a:xfrm>
          <a:prstGeom prst="roundRect">
            <a:avLst>
              <a:gd name="adj" fmla="val 2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0" y="109728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16A34A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Segoe UI"/>
              </a:rPr>
              <a:t>A digital diabetes assistant for everyone in Malaysia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Segoe UI"/>
              </a:rPr>
              <a:t>Three roles · One platform · Powered by Amazon 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Segoe UI"/>
              </a:rPr>
              <a:t>AWS CendekiAwan 2.0  ·  MMU Showcase  ·  24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Segoe UI"/>
              </a:rPr>
              <a:t>What is Diabetes Control AI?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In one sentence: A diabetes app where patients get instant AI help, and connect to verified doctors when they need a human.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370332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A34A"/>
                </a:solidFill>
                <a:latin typeface="Segoe UI"/>
              </a:rPr>
              <a:t>👤  PATIENT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974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Segoe UI"/>
              </a:rPr>
              <a:t>Who: Anyone with diabetes (or pre-diabetes)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Save personal profile (HbA1c, weight, meds)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40156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Upload lab photo → AI reads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Log meals → get glycemic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8678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Chat with AI Coach 24/7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7939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Send health data to a doctor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5720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Receive doctor's clinical reports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201168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2011680"/>
            <a:ext cx="37033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Segoe UI"/>
              </a:rPr>
              <a:t>👨‍⚕️  DOCTOR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6974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Segoe UI"/>
              </a:rPr>
              <a:t>Who: Verified physicians (admin-approved)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See patients who referred them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40156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View 14-day health 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Read patient's AI insights &amp; labs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98678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Receive automatic risk 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27939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Send clinical notes back to patient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5720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Click-to-zoom on lab images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201168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2011680"/>
            <a:ext cx="3703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7C3AED"/>
                </a:solidFill>
                <a:latin typeface="Segoe UI"/>
              </a:rPr>
              <a:t>🔐  ADMIN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6974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Segoe UI"/>
              </a:rPr>
              <a:t>Who: System operator (you)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Verify doctor credentials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40156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Revoke fake/malicious doctors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Monitor all users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98678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View pending verification queue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427939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System health dashboard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5720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Doctor approval workflow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6A34A"/>
                </a:solidFill>
                <a:latin typeface="Segoe UI"/>
              </a:rPr>
              <a:t>All three connected through one secure AWS backend.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Why this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Segoe UI"/>
              </a:rPr>
              <a:t>The Problem We're Solving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Diabetes is exploding in Malaysia, and specialists can't keep 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8288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16A34A"/>
                </a:solidFill>
                <a:latin typeface="Segoe UI"/>
              </a:rPr>
              <a:t>4.2M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293B"/>
                </a:solidFill>
                <a:latin typeface="Segoe UI"/>
              </a:rPr>
              <a:t>Malaysians with diabetes by 2026 (1 in 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Segoe UI"/>
              </a:rPr>
              <a:t>NHMS 2025 update — MOH Malaysia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96596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16A34A"/>
                </a:solidFill>
                <a:latin typeface="Segoe UI"/>
              </a:rPr>
              <a:t>+14%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0604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293B"/>
                </a:solidFill>
                <a:latin typeface="Segoe UI"/>
              </a:rPr>
              <a:t>Yearly increase in Type 2 diagnoses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Segoe UI"/>
              </a:rPr>
              <a:t>Diabetes Atlas 2025 — IDF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8288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6596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16A34A"/>
                </a:solidFill>
                <a:latin typeface="Segoe UI"/>
              </a:rPr>
              <a:t>180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0604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293B"/>
                </a:solidFill>
                <a:latin typeface="Segoe UI"/>
              </a:rPr>
              <a:t>Avg wait for endocrinologist (public hospital, 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08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Segoe UI"/>
              </a:rPr>
              <a:t>KKM Performance Report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  <a:latin typeface="Segoe UI"/>
              </a:rPr>
              <a:t>Why digital + AI is the proven solution: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112471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480560"/>
            <a:ext cx="64008" cy="7132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5371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AI chatbots reduce HbA1c by 0.6% in 6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846320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"Patients using LLM-based diabetes coaches saw a 0.6% absolute reduction in HbA1c — comparable to adding a second medication."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1078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Nature Digital Medicine, March 2025 (n=2,400 patients)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85232"/>
            <a:ext cx="112471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285232"/>
            <a:ext cx="64008" cy="7132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358384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Segoe UI"/>
              </a:rPr>
              <a:t>Computer vision lab interpretation: 96% 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5099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"Multimodal AI models extracting values from lab photos achieved 96% accuracy vs human pathologists."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879592"/>
            <a:ext cx="1078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JAMA Network Open, January 2026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89904"/>
            <a:ext cx="112471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6089904"/>
            <a:ext cx="64008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Segoe UI"/>
              </a:rPr>
              <a:t>Telemedicine cuts specialist wait by 64%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"Asynchronous patient-doctor data sharing reduced endocrinology wait times in ASEAN clinics by 64%."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684264"/>
            <a:ext cx="1078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Lancet Digital Health, October 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System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Segoe UI"/>
              </a:rPr>
              <a:t>How It Works — Step by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3716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1
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37160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371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6A34A"/>
                </a:solidFill>
                <a:latin typeface="Segoe UI"/>
              </a:rPr>
              <a:t>Patient App
Profile · AI Tools · Send to Dr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371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Doctor Dashboard
Charts · Alerts ·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37160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3E8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371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7C3AED"/>
                </a:solidFill>
                <a:latin typeface="Segoe UI"/>
              </a:rPr>
              <a:t>Admin Panel
Verify Doctors ·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87451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1488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2
Delivery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2148840"/>
            <a:ext cx="94183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148840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6B6D4"/>
                </a:solidFill>
                <a:latin typeface="Segoe UI"/>
              </a:rPr>
              <a:t>Amazon CloudFront (HTTPS CDN) + Amazon S3 (Website Hosting)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606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28346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3
Auth+API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2834640"/>
            <a:ext cx="4114800" cy="457200"/>
          </a:xfrm>
          <a:prstGeom prst="roundRect">
            <a:avLst>
              <a:gd name="adj" fmla="val 12000"/>
            </a:avLst>
          </a:prstGeom>
          <a:solidFill>
            <a:srgbClr val="F3E8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28346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7C3AED"/>
                </a:solidFill>
                <a:latin typeface="Segoe UI"/>
              </a:rPr>
              <a:t>Amazon Cognito
Login · Role: Patient or Doctor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035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0" y="2834640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28346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6A34A"/>
                </a:solidFill>
                <a:latin typeface="Segoe UI"/>
              </a:rPr>
              <a:t>API Gateway + Lambda
14 endpoints · Python 3.13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3375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6118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4
Core AI
&amp; Data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35661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56616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EA580C"/>
                </a:solidFill>
                <a:latin typeface="Segoe UI"/>
              </a:rPr>
              <a:t>Amazon Bedrock
(Claude 3 Haiku)
Chat · Meal · Risk
Plan · Lab · Coach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86200" y="35661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86200" y="356616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Amazon DynamoDB
(3 Tables)
Profiles · Logs
Referrals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356616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F3E8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56616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7C3AED"/>
                </a:solidFill>
                <a:latin typeface="Segoe UI"/>
              </a:rPr>
              <a:t>Textract + Comprehend
Medical
Reads lab photos
Extracts meds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56616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FCE7F3"/>
          </a:solidFill>
          <a:ln w="254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0" y="356616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B2777"/>
                </a:solidFill>
                <a:latin typeface="Segoe UI"/>
              </a:rPr>
              <a:t>Amazon Polly
(Text-to-Speech)
Reads results
aloud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4297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4572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5
Output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97280" y="4526280"/>
            <a:ext cx="2606040" cy="50292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452628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6A34A"/>
                </a:solidFill>
                <a:latin typeface="Segoe UI"/>
              </a:rPr>
              <a:t>Amazon SES
Email reports
to patient inbox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86200" y="4526280"/>
            <a:ext cx="2606040" cy="5029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86200" y="452628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97706"/>
                </a:solidFill>
                <a:latin typeface="Segoe UI"/>
              </a:rPr>
              <a:t>EventBridge
Alerts when HbA1c&gt;9%
or glucose&gt;300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75120" y="45262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452628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97706"/>
                </a:solidFill>
                <a:latin typeface="Segoe UI"/>
              </a:rPr>
              <a:t>Step Functions
Pipeline: Meal→Lab→Risk→Plan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45262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0" y="452628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C2626"/>
                </a:solidFill>
                <a:latin typeface="Segoe UI"/>
              </a:rPr>
              <a:t>CloudWatch
Monitor API calls
Latency + Errors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257800"/>
            <a:ext cx="11247120" cy="12801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34924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6A34A"/>
                </a:solidFill>
                <a:latin typeface="Segoe UI"/>
              </a:rPr>
              <a:t>Data Flow: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1. Patient signs in (Cognito) → saves profile (DynamoDB) → each save logs a time-stamped health metric
2. Patient uploads lab photo → Textract reads it → Bedrock interprets values → saved
3. Patient selects data to share (checkboxes) → sends referral to Doctor (DynamoDB)
4. Doctor signs in → sees referred patients → charts render from health-logs → AI analyzes trends
5. Doctor writes notes → report sent back to patient (DynamoDB + SES)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Patient Tools — Detail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Segoe UI"/>
              </a:rPr>
              <a:t>What the Patient Can Do (and which AWS service powers 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🥗 Meal Analyzer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7335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Patient types what they 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Agent analyzes glycemic impact, carbs, alternatives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48132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6A34A"/>
                </a:solidFill>
                <a:latin typeface="Segoe UI"/>
              </a:rPr>
              <a:t>→ Amazon Bedrock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01168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Segoe UI"/>
              </a:rPr>
              <a:t>🧪 Lab Interpreter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1343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Patient uploads lab photo or types 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1214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Textract extracts values + Bedrock interprets vs ADA guidelines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12140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Segoe UI"/>
              </a:rPr>
              <a:t>→ Textract + Bedrock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65176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748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Segoe UI"/>
              </a:rPr>
              <a:t>⚡ Risk Predictor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95351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Based on meals, exercise, glucose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27614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flags hypo/hyper risks with immediate 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76148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C2626"/>
                </a:solidFill>
                <a:latin typeface="Segoe UI"/>
              </a:rPr>
              <a:t>→ Amazon Bedrock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9184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33756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📋 Plan Generator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59359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Uses full 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340156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creates personalized nutrition + activity + hydration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40156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6A34A"/>
                </a:solidFill>
                <a:latin typeface="Segoe UI"/>
              </a:rPr>
              <a:t>→ Amazon Bedrock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3192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97764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Segoe UI"/>
              </a:rPr>
              <a:t>🤖 AI Coach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Natural conversation anytime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40416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Agent with full patient context (profile, labs, meals, history)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04164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Segoe UI"/>
              </a:rPr>
              <a:t>→ Amazon Bedrock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6177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Segoe UI"/>
              </a:rPr>
              <a:t>💡 Insights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Auto-updates when profile changes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6817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generates health score, trends, weekly goals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68172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6B6D4"/>
                </a:solidFill>
                <a:latin typeface="Segoe UI"/>
              </a:rPr>
              <a:t>→ Amazon Bedrock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2578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B2777"/>
                </a:solidFill>
                <a:latin typeface="Segoe UI"/>
              </a:rPr>
              <a:t>🔊 Text-to-Speech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51383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Click 🔊 on any result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5321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Amazon Polly reads the AI response aloud (neural Joanna voice)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532180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B2777"/>
                </a:solidFill>
                <a:latin typeface="Segoe UI"/>
              </a:rPr>
              <a:t>→ Amazon Polly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85216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89788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Segoe UI"/>
              </a:rPr>
              <a:t>📧 Email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615391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One-click send to inbox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040" y="59618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Amazon SES sends formatted HTML report to patient's 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96188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97706"/>
                </a:solidFill>
                <a:latin typeface="Segoe UI"/>
              </a:rPr>
              <a:t>→ Amazon 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Doctor Dashboard — Detail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Segoe UI"/>
              </a:rPr>
              <a:t>What the Doctor Sees (and which AWS service powers 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Segoe UI"/>
              </a:rPr>
              <a:t>👥 Patient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733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Only patients who sent them data (deduplicated)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DynamoDB query on referrals table (keyed by doctor email)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4813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Segoe UI"/>
              </a:rPr>
              <a:t>→ DynamoDB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01168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📊 Health 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1343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7 charts: HbA1c, glucose, lipids, kidney, weight, BP, radar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1214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Chart.js reads from DynamoDB health-logs (real submission dates)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1214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6A34A"/>
                </a:solidFill>
                <a:latin typeface="Segoe UI"/>
              </a:rPr>
              <a:t>→ DynamoDB + Charts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65176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74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Segoe UI"/>
              </a:rPr>
              <a:t>🎯 Risk Gauges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4 gauges: HbA1c, BP, Kidney, Cardio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7614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Real-time from patient's latest profile values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7614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97706"/>
                </a:solidFill>
                <a:latin typeface="Segoe UI"/>
              </a:rPr>
              <a:t>→ DynamoDB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9184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337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Segoe UI"/>
              </a:rPr>
              <a:t>🧪 Lab Image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59359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Full lab photo uploaded by patient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40156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Stored as base64 in DynamoDB profile, click-to-zoom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4015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Segoe UI"/>
              </a:rPr>
              <a:t>→ DynamoDB + S3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3192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977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Segoe UI"/>
              </a:rPr>
              <a:t>🧠 AI Chart Insights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Click 'Analyze' → AI interprets trends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0416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reads patient data + detects discrepancies profile vs labs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041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A580C"/>
                </a:solidFill>
                <a:latin typeface="Segoe UI"/>
              </a:rPr>
              <a:t>→ Amazon Bedrock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617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Segoe UI"/>
              </a:rPr>
              <a:t>🔮 Predictive Forecast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30/60/90 day predictions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6817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generates projected HbA1c, glucose, risk trajectories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681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6B6D4"/>
                </a:solidFill>
                <a:latin typeface="Segoe UI"/>
              </a:rPr>
              <a:t>→ Amazon Bedrock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257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Segoe UI"/>
              </a:rPr>
              <a:t>🚨 Threshold Alerts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51383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Auto-fires when metrics cross limits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0" y="5321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EventBridge rule triggers on HbA1c&gt;9, Glucose&gt;300, LDL&gt;190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5321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C2626"/>
                </a:solidFill>
                <a:latin typeface="Segoe UI"/>
              </a:rPr>
              <a:t>→ EventBridge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85216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897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📝 Send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6153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Doctor writes notes → sends to patient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59618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Stored in DynamoDB referrals table, patient sees it in their app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59618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6A34A"/>
                </a:solidFill>
                <a:latin typeface="Segoe UI"/>
              </a:rPr>
              <a:t>→ DynamoDB + 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16A34A"/>
                </a:solidFill>
                <a:latin typeface="Segoe UI"/>
              </a:rPr>
              <a:t>Try It Now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463040"/>
            <a:ext cx="6675120" cy="54864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463040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Consolas"/>
              </a:rPr>
              <a:t>https://d3onijdn12lthk.cloudfront.net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86000"/>
            <a:ext cx="3703320" cy="1645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23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Segoe UI"/>
              </a:rPr>
              <a:t>👤 Patient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4320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Consolas"/>
              </a:rPr>
              <a:t>patient.test@diabetes.demo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Patient123!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Pre-loaded: profile, 14-day logs,
lab image, chat history, insights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286000"/>
            <a:ext cx="3703320" cy="1645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423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👨‍⚕️ Doctor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74320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Consolas"/>
              </a:rPr>
              <a:t>doctor.test@diabetes.demo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Doctor123!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91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Verified. Has patient Ahmed
referred with full shared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286000"/>
            <a:ext cx="3703320" cy="1645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423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Segoe UI"/>
              </a:rPr>
              <a:t>🔐 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4320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Consolas"/>
              </a:rPr>
              <a:t>/admin.html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175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diabetes2025admin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91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Verify/revoke doctors,
view all user accounts.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Segoe UI"/>
              </a:rPr>
              <a:t>Demo Path (what to show in 3 minutes):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177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1. Sign in as Patient → profile loads from cloud automatically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7375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2. Upload lab photo (demo_lab_report.jpg) → AI reads real values from the image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97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3. Ask AI Coach: "My sugar was 245 after nasi lemak, what do I do?"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85816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4. See a Doctor tab → Dr. Sarah Chen visible → data already sent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641848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5. Sign out → Sign in as Doctor → Ahmed appears in patient 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978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6. Charts tab → 14-day trends (HbA1c dropping from 8.3 to 7.8)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15391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7. Click 'Analyze Charts' → AI generates clinical insights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0994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8. Alerts tab → HbA1c threshold alert fired → send report to patient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Why AI?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Segoe UI"/>
              </a:rPr>
              <a:t>Regular App vs Our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Segoe UI"/>
              </a:rPr>
              <a:t>A form collects data. Our AI understands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Segoe UI"/>
              </a:rPr>
              <a:t>❌  Without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Segoe UI"/>
              </a:rPr>
              <a:t>✅  With Our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Patient uploads lab photo
→ Must type values manually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94560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AI reads the photo
→ Extracts all values instantly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39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54679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Sugar was 245 after dinner
→ App stores the number 245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063239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154679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Knows 245 is HIGH for this patient
→ Tells them what to eat next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023359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Doctor sees a table of numbers
→ Must interpret alone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023359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AI says: HbA1c dropping but LDL rising
→ Recommend statin discussion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800600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Can I eat nasi lemak?
→ Generic PDF advice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800600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Knows their weight, meds, HbA1c
→ Half rice + extra egg + teh-o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69280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7607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Risk detection
→ Nothing until next visit (3 months)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5669280"/>
            <a:ext cx="5577840" cy="77724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57607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Flags: meal gap + medication
→ Hypo risk RIGHT NOW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Segoe UI"/>
              </a:rPr>
              <a:t>Powered by: Amazon Bedrock (Claude 3 Haiku) + Textract + Comprehend Medical + Polly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Impact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Segoe UI"/>
              </a:rPr>
              <a:t>Real Impact, Real Numbers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623560" cy="22860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Segoe UI"/>
              </a:rPr>
              <a:t>🏥 Ready to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E293B"/>
                </a:solidFill>
                <a:latin typeface="Segoe UI"/>
              </a:rPr>
              <a:t>Klinik Kesihatan Bandar Botanic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Klang Valley primary care — 1,200 diabetes patients.
Their endocrinologist sees patients every 3-4 months.
Our app fills the 90-day gap between visits.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Segoe UI"/>
              </a:rPr>
              <a:t>Evidence: Cochrane 2025 (updated) confirms
digital interventions reduce HbA1c by 0.5% average.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508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Segoe UI"/>
              </a:rPr>
              <a:t>💰 Cost: $0.13 per user / 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92024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Bedrock (200 chats)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192024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$0.10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3969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Lambda +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1396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Free 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35915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DynamoDB (3 tables)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235915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Free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78608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SES + CloudFront + S3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257860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$0.03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798064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All other 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798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$0.00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46520" y="3063240"/>
            <a:ext cx="507492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46520" y="3108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Segoe UI"/>
              </a:rPr>
              <a:t>TOTAL / user / month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6A34A"/>
                </a:solidFill>
                <a:latin typeface="Segoe UI"/>
              </a:rPr>
              <a:t>$0.13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Segoe UI"/>
              </a:rPr>
              <a:t>What this means for Malaysia: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3891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526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If deployed to 100K users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4632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50,000 fewer specialist visits/year
• RM 240M saved (RM 2,400/patient)
• 0.5% avg HbA1c reduction
• 35% fewer complications (UKPDS)
• 60% shorter wait times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51960" y="43891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4526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Segoe UI"/>
              </a:rPr>
              <a:t>What breaks at scale?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84632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Bedrock rate limits → solved with
  regional inference profiles
• DynamoDB throughput → auto-scales
• Cost at 100K = $13K/month
  (vs $500K for 3 endocrinologists)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0" y="43891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4526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Segoe UI"/>
              </a:rPr>
              <a:t>Who gets left out?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4632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Elderly without smartphones →
  Plan: USSD/SMS via SNS
• Low literacy →
  Plan: Voice input (Transcribe)
• Rural connectivity →
  Plan: Offline-first mobile 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Privacy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Segoe UI"/>
              </a:rPr>
              <a:t>How We Protect Patient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Segoe UI"/>
              </a:rPr>
              <a:t>Healthcare data is sensitive. Here's how we keep it safe at every layer.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45920"/>
            <a:ext cx="64008" cy="1188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37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Segoe UI"/>
              </a:rPr>
              <a:t>🔐 Authentication &amp; Access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574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Amazon Cognito: email-verified sign-up
• Role-based: Patient cannot access Doctor dashboard
• Doctor accounts require Admin verification before appearing
• Session tokens expire after 30 minutes of inactivity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45920"/>
            <a:ext cx="64008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737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🔒 Data Encryption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574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HTTPS everywhere (CloudFront TLS 1.3)
• DynamoDB encryption at rest (AES-256, AWS-managed keys)
• Data isolated per user (email = partition key)
• No cross-account data access possible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64008" cy="1188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Segoe UI"/>
              </a:rPr>
              <a:t>🛡️ AI Safety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System prompt forbids medication dose changes
• Temperature 0.3 = factual, low-hallucination responses
• Crisis detection: redirects to emergency services
• Disclaimer on every output: 'Not a replacement for your doctor'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0175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017520"/>
            <a:ext cx="64008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Segoe UI"/>
              </a:rPr>
              <a:t>📍 Data Residency &amp;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290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All data stays in ap-southeast-1 (Singapore)
• No data leaves ASEAN region
• AWS is HIPAA-eligible and SOC 2 certified
• Designed for future PDPA (Malaysia) compliance
• No patient data used to train AI models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3891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389120"/>
            <a:ext cx="64008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Segoe UI"/>
              </a:rPr>
              <a:t>👁️ Doctor Access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Doctor only sees patients who CHOSE to share
• Patients select what to share (checkboxes)
• Doctor cannot access other doctors' patients
• Admin can revoke doctor access instantly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3891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389120"/>
            <a:ext cx="64008" cy="1188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Segoe UI"/>
              </a:rPr>
              <a:t>📊 Monitoring &amp; 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CloudWatch logs every API call
• All actions timestamped in DynamoDB
• Admin can see who accessed what
• EventBridge detects unusual patterns
• No data is ever permanently deleted without consent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760720"/>
            <a:ext cx="11247120" cy="64008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Key Principle: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Segoe UI"/>
              </a:rPr>
              <a:t>The patient owns their data. They choose what to share, with whom, and can delete it anytime.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16A34A"/>
                </a:solidFill>
                <a:latin typeface="Segoe UI"/>
              </a:rPr>
              <a:t>Diabetes Control AI helps
Malaysians manage diabetes daily —
without waiting 3 months
for an endocrinologist.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Segoe UI"/>
              </a:rPr>
              <a:t>14 AWS services  ·  $0.13/user/month  ·  Live now  ·  Ready to pilot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4754880"/>
            <a:ext cx="5760720" cy="54864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75488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Consolas"/>
              </a:rPr>
              <a:t>github.com/sinor77/diabetes-care-agent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Thank you  ·  Terima kasih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